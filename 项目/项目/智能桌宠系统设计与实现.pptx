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5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12192000"/>
  <p:embeddedFontLst>
    <p:embeddedFont>
      <p:font typeface="Calibri" panose="020F0502020204030204" charset="0"/>
      <p:regular r:id="rId37"/>
      <p:bold r:id="rId38"/>
      <p:italic r:id="rId39"/>
      <p:boldItalic r:id="rId40"/>
    </p:embeddedFont>
    <p:embeddedFont>
      <p:font typeface="等线" panose="02010600030101010101" charset="-122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5.fntdata"/><Relationship Id="rId40" Type="http://schemas.openxmlformats.org/officeDocument/2006/relationships/font" Target="fonts/font4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3.fntdata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3.jpeg"/><Relationship Id="rId11" Type="http://schemas.openxmlformats.org/officeDocument/2006/relationships/image" Target="../media/image22.jpeg"/><Relationship Id="rId10" Type="http://schemas.openxmlformats.org/officeDocument/2006/relationships/image" Target="../media/image21.jpeg"/><Relationship Id="rId1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0.pn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9.jpeg"/><Relationship Id="rId1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4.jpeg"/><Relationship Id="rId5" Type="http://schemas.openxmlformats.org/officeDocument/2006/relationships/image" Target="../media/image30.png"/><Relationship Id="rId4" Type="http://schemas.openxmlformats.org/officeDocument/2006/relationships/image" Target="../media/image43.jpeg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13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jpe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30.pn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13.png"/><Relationship Id="rId7" Type="http://schemas.openxmlformats.org/officeDocument/2006/relationships/image" Target="../media/image57.png"/><Relationship Id="rId6" Type="http://schemas.openxmlformats.org/officeDocument/2006/relationships/image" Target="../media/image46.png"/><Relationship Id="rId5" Type="http://schemas.openxmlformats.org/officeDocument/2006/relationships/image" Target="../media/image56.png"/><Relationship Id="rId4" Type="http://schemas.openxmlformats.org/officeDocument/2006/relationships/image" Target="../media/image30.png"/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openxmlformats.org/officeDocument/2006/relationships/tags" Target="../tags/tag4.xml"/><Relationship Id="rId11" Type="http://schemas.openxmlformats.org/officeDocument/2006/relationships/tags" Target="../tags/tag3.xml"/><Relationship Id="rId10" Type="http://schemas.openxmlformats.org/officeDocument/2006/relationships/tags" Target="../tags/tag2.xml"/><Relationship Id="rId1" Type="http://schemas.openxmlformats.org/officeDocument/2006/relationships/image" Target="../media/image5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3.jpeg"/><Relationship Id="rId4" Type="http://schemas.openxmlformats.org/officeDocument/2006/relationships/image" Target="../media/image13.png"/><Relationship Id="rId3" Type="http://schemas.openxmlformats.org/officeDocument/2006/relationships/image" Target="../media/image30.png"/><Relationship Id="rId2" Type="http://schemas.openxmlformats.org/officeDocument/2006/relationships/image" Target="../media/image62.jpeg"/><Relationship Id="rId1" Type="http://schemas.openxmlformats.org/officeDocument/2006/relationships/image" Target="../media/image6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3.jpeg"/><Relationship Id="rId6" Type="http://schemas.openxmlformats.org/officeDocument/2006/relationships/image" Target="../media/image13.png"/><Relationship Id="rId5" Type="http://schemas.openxmlformats.org/officeDocument/2006/relationships/image" Target="../media/image30.png"/><Relationship Id="rId4" Type="http://schemas.openxmlformats.org/officeDocument/2006/relationships/image" Target="../media/image65.jpeg"/><Relationship Id="rId3" Type="http://schemas.openxmlformats.org/officeDocument/2006/relationships/image" Target="../media/image64.jpeg"/><Relationship Id="rId2" Type="http://schemas.openxmlformats.org/officeDocument/2006/relationships/image" Target="../media/image62.jpeg"/><Relationship Id="rId1" Type="http://schemas.openxmlformats.org/officeDocument/2006/relationships/image" Target="../media/image61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jpeg"/><Relationship Id="rId8" Type="http://schemas.openxmlformats.org/officeDocument/2006/relationships/image" Target="../media/image30.png"/><Relationship Id="rId7" Type="http://schemas.openxmlformats.org/officeDocument/2006/relationships/image" Target="../media/image13.png"/><Relationship Id="rId6" Type="http://schemas.openxmlformats.org/officeDocument/2006/relationships/image" Target="../media/image69.jpeg"/><Relationship Id="rId5" Type="http://schemas.openxmlformats.org/officeDocument/2006/relationships/tags" Target="../tags/tag8.xml"/><Relationship Id="rId4" Type="http://schemas.openxmlformats.org/officeDocument/2006/relationships/image" Target="../media/image68.jpeg"/><Relationship Id="rId3" Type="http://schemas.openxmlformats.org/officeDocument/2006/relationships/tags" Target="../tags/tag7.xml"/><Relationship Id="rId2" Type="http://schemas.openxmlformats.org/officeDocument/2006/relationships/image" Target="../media/image67.png"/><Relationship Id="rId19" Type="http://schemas.openxmlformats.org/officeDocument/2006/relationships/notesSlide" Target="../notesSlides/notesSlide1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tags" Target="../tags/tag20.xml"/><Relationship Id="rId7" Type="http://schemas.openxmlformats.org/officeDocument/2006/relationships/image" Target="../media/image30.png"/><Relationship Id="rId6" Type="http://schemas.openxmlformats.org/officeDocument/2006/relationships/image" Target="../media/image73.jpeg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72.jpeg"/><Relationship Id="rId21" Type="http://schemas.openxmlformats.org/officeDocument/2006/relationships/notesSlide" Target="../notesSlides/notesSlide19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image" Target="../media/image76.png"/><Relationship Id="rId12" Type="http://schemas.openxmlformats.org/officeDocument/2006/relationships/tags" Target="../tags/tag22.xml"/><Relationship Id="rId11" Type="http://schemas.openxmlformats.org/officeDocument/2006/relationships/image" Target="../media/image75.png"/><Relationship Id="rId10" Type="http://schemas.openxmlformats.org/officeDocument/2006/relationships/tags" Target="../tags/tag21.xml"/><Relationship Id="rId1" Type="http://schemas.openxmlformats.org/officeDocument/2006/relationships/image" Target="../media/image71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9.png"/><Relationship Id="rId3" Type="http://schemas.openxmlformats.org/officeDocument/2006/relationships/image" Target="../media/image78.jpeg"/><Relationship Id="rId2" Type="http://schemas.openxmlformats.org/officeDocument/2006/relationships/image" Target="../media/image30.png"/><Relationship Id="rId1" Type="http://schemas.openxmlformats.org/officeDocument/2006/relationships/image" Target="../media/image77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30.png"/><Relationship Id="rId4" Type="http://schemas.openxmlformats.org/officeDocument/2006/relationships/image" Target="../media/image46.png"/><Relationship Id="rId3" Type="http://schemas.openxmlformats.org/officeDocument/2006/relationships/image" Target="../media/image82.png"/><Relationship Id="rId2" Type="http://schemas.openxmlformats.org/officeDocument/2006/relationships/image" Target="../media/image81.jpeg"/><Relationship Id="rId1" Type="http://schemas.openxmlformats.org/officeDocument/2006/relationships/image" Target="../media/image80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13.png"/><Relationship Id="rId2" Type="http://schemas.openxmlformats.org/officeDocument/2006/relationships/image" Target="../media/image84.png"/><Relationship Id="rId1" Type="http://schemas.openxmlformats.org/officeDocument/2006/relationships/image" Target="../media/image83.jpe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0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jpeg"/><Relationship Id="rId1" Type="http://schemas.openxmlformats.org/officeDocument/2006/relationships/image" Target="../media/image87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4.png"/><Relationship Id="rId6" Type="http://schemas.openxmlformats.org/officeDocument/2006/relationships/image" Target="../media/image46.png"/><Relationship Id="rId5" Type="http://schemas.openxmlformats.org/officeDocument/2006/relationships/image" Target="../media/image13.png"/><Relationship Id="rId4" Type="http://schemas.openxmlformats.org/officeDocument/2006/relationships/image" Target="../media/image93.jpeg"/><Relationship Id="rId3" Type="http://schemas.openxmlformats.org/officeDocument/2006/relationships/image" Target="../media/image92.jpeg"/><Relationship Id="rId2" Type="http://schemas.openxmlformats.org/officeDocument/2006/relationships/image" Target="../media/image30.png"/><Relationship Id="rId1" Type="http://schemas.openxmlformats.org/officeDocument/2006/relationships/image" Target="../media/image91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7.jpeg"/><Relationship Id="rId5" Type="http://schemas.openxmlformats.org/officeDocument/2006/relationships/image" Target="../media/image27.png"/><Relationship Id="rId4" Type="http://schemas.openxmlformats.org/officeDocument/2006/relationships/image" Target="../media/image13.png"/><Relationship Id="rId3" Type="http://schemas.openxmlformats.org/officeDocument/2006/relationships/image" Target="../media/image30.png"/><Relationship Id="rId2" Type="http://schemas.openxmlformats.org/officeDocument/2006/relationships/image" Target="../media/image96.png"/><Relationship Id="rId1" Type="http://schemas.openxmlformats.org/officeDocument/2006/relationships/image" Target="../media/image95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6" Type="http://schemas.openxmlformats.org/officeDocument/2006/relationships/image" Target="../media/image46.png"/><Relationship Id="rId5" Type="http://schemas.openxmlformats.org/officeDocument/2006/relationships/image" Target="../media/image5.png"/><Relationship Id="rId4" Type="http://schemas.openxmlformats.org/officeDocument/2006/relationships/image" Target="../media/image99.png"/><Relationship Id="rId3" Type="http://schemas.openxmlformats.org/officeDocument/2006/relationships/image" Target="../media/image98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4:47:58-d2t8f7lnfo2stf9dipu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0425" y="5394325"/>
            <a:ext cx="2556510" cy="67056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5-14:47:58-d2t8f7lnfo2stf9dipu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45" y="5394325"/>
            <a:ext cx="2649220" cy="67056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691" y="338060"/>
            <a:ext cx="5267401" cy="618188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7:58-d2t8f7lnfo2stf9dip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54" y="3820681"/>
            <a:ext cx="6474819" cy="11460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54682" y="1717186"/>
            <a:ext cx="6254435" cy="1882775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5400" dirty="0">
                <a:solidFill>
                  <a:srgbClr val="0D0D0D"/>
                </a:solidFill>
                <a:latin typeface="仓耳玄三M W05" pitchFamily="34" charset="0"/>
                <a:ea typeface="仓耳玄三M W05" pitchFamily="34" charset="-122"/>
                <a:cs typeface="仓耳玄三M W05" pitchFamily="34" charset="-120"/>
              </a:rPr>
              <a:t>智能桌宠系统设计与实现</a:t>
            </a:r>
            <a:endParaRPr lang="en-US" sz="1600" dirty="0"/>
          </a:p>
        </p:txBody>
      </p:sp>
      <p:pic>
        <p:nvPicPr>
          <p:cNvPr id="9" name="Image 4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300000" flipH="1">
            <a:off x="5586412" y="-245267"/>
            <a:ext cx="1419225" cy="3333750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09-05-14:47:58-d2t8f7lnfo2stf9dip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337" y="705335"/>
            <a:ext cx="1847850" cy="1847850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 rot="21420000">
            <a:off x="702945" y="5610860"/>
            <a:ext cx="345440" cy="337185"/>
          </a:xfrm>
          <a:custGeom>
            <a:avLst/>
            <a:gdLst/>
            <a:ahLst/>
            <a:cxnLst/>
            <a:rect l="l" t="t" r="r" b="b"/>
            <a:pathLst>
              <a:path w="345440" h="337185">
                <a:moveTo>
                  <a:pt x="173709" y="181551"/>
                </a:moveTo>
                <a:cubicBezTo>
                  <a:pt x="287803" y="181551"/>
                  <a:pt x="328526" y="230017"/>
                  <a:pt x="345440" y="280473"/>
                </a:cubicBezTo>
                <a:cubicBezTo>
                  <a:pt x="354963" y="308910"/>
                  <a:pt x="329659" y="337185"/>
                  <a:pt x="294605" y="337185"/>
                </a:cubicBezTo>
                <a:lnTo>
                  <a:pt x="52857" y="337185"/>
                </a:lnTo>
                <a:cubicBezTo>
                  <a:pt x="17804" y="337185"/>
                  <a:pt x="-7501" y="308910"/>
                  <a:pt x="2022" y="280473"/>
                </a:cubicBezTo>
                <a:cubicBezTo>
                  <a:pt x="18891" y="230017"/>
                  <a:pt x="59614" y="181551"/>
                  <a:pt x="173709" y="181551"/>
                </a:cubicBezTo>
                <a:close/>
                <a:moveTo>
                  <a:pt x="173709" y="0"/>
                </a:moveTo>
                <a:cubicBezTo>
                  <a:pt x="224906" y="0"/>
                  <a:pt x="266399" y="37131"/>
                  <a:pt x="266354" y="82996"/>
                </a:cubicBezTo>
                <a:cubicBezTo>
                  <a:pt x="266354" y="128820"/>
                  <a:pt x="224861" y="165992"/>
                  <a:pt x="173709" y="165992"/>
                </a:cubicBezTo>
                <a:cubicBezTo>
                  <a:pt x="122556" y="165992"/>
                  <a:pt x="81063" y="128820"/>
                  <a:pt x="81063" y="82996"/>
                </a:cubicBezTo>
                <a:cubicBezTo>
                  <a:pt x="81063" y="37131"/>
                  <a:pt x="122556" y="0"/>
                  <a:pt x="173709" y="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2" name="Text 4"/>
          <p:cNvSpPr/>
          <p:nvPr/>
        </p:nvSpPr>
        <p:spPr>
          <a:xfrm rot="21420000">
            <a:off x="702945" y="5610860"/>
            <a:ext cx="345440" cy="337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 rot="21360000">
            <a:off x="3531870" y="5601970"/>
            <a:ext cx="390525" cy="337185"/>
          </a:xfrm>
          <a:custGeom>
            <a:avLst/>
            <a:gdLst/>
            <a:ahLst/>
            <a:cxnLst/>
            <a:rect l="l" t="t" r="r" b="b"/>
            <a:pathLst>
              <a:path w="390525" h="337185">
                <a:moveTo>
                  <a:pt x="142998" y="40177"/>
                </a:moveTo>
                <a:lnTo>
                  <a:pt x="248767" y="40177"/>
                </a:lnTo>
                <a:lnTo>
                  <a:pt x="248767" y="66524"/>
                </a:lnTo>
                <a:lnTo>
                  <a:pt x="142998" y="66524"/>
                </a:lnTo>
                <a:close/>
                <a:moveTo>
                  <a:pt x="46434" y="40177"/>
                </a:moveTo>
                <a:lnTo>
                  <a:pt x="103754" y="40177"/>
                </a:lnTo>
                <a:lnTo>
                  <a:pt x="103754" y="66524"/>
                </a:lnTo>
                <a:lnTo>
                  <a:pt x="46434" y="66524"/>
                </a:lnTo>
                <a:cubicBezTo>
                  <a:pt x="36366" y="66524"/>
                  <a:pt x="28228" y="74164"/>
                  <a:pt x="28228" y="83517"/>
                </a:cubicBezTo>
                <a:lnTo>
                  <a:pt x="28228" y="129930"/>
                </a:lnTo>
                <a:lnTo>
                  <a:pt x="362251" y="129930"/>
                </a:lnTo>
                <a:lnTo>
                  <a:pt x="362251" y="83517"/>
                </a:lnTo>
                <a:cubicBezTo>
                  <a:pt x="362251" y="74120"/>
                  <a:pt x="354065" y="66524"/>
                  <a:pt x="344044" y="66524"/>
                </a:cubicBezTo>
                <a:lnTo>
                  <a:pt x="288011" y="66524"/>
                </a:lnTo>
                <a:lnTo>
                  <a:pt x="288011" y="40177"/>
                </a:lnTo>
                <a:lnTo>
                  <a:pt x="344044" y="40177"/>
                </a:lnTo>
                <a:cubicBezTo>
                  <a:pt x="369684" y="40177"/>
                  <a:pt x="390478" y="59586"/>
                  <a:pt x="390525" y="83517"/>
                </a:cubicBezTo>
                <a:lnTo>
                  <a:pt x="390525" y="293846"/>
                </a:lnTo>
                <a:cubicBezTo>
                  <a:pt x="390525" y="317689"/>
                  <a:pt x="369637" y="337185"/>
                  <a:pt x="344091" y="337185"/>
                </a:cubicBezTo>
                <a:lnTo>
                  <a:pt x="46434" y="337185"/>
                </a:lnTo>
                <a:cubicBezTo>
                  <a:pt x="20888" y="337185"/>
                  <a:pt x="0" y="317689"/>
                  <a:pt x="0" y="293846"/>
                </a:cubicBezTo>
                <a:lnTo>
                  <a:pt x="0" y="156276"/>
                </a:lnTo>
                <a:lnTo>
                  <a:pt x="0" y="129930"/>
                </a:lnTo>
                <a:lnTo>
                  <a:pt x="0" y="83517"/>
                </a:lnTo>
                <a:cubicBezTo>
                  <a:pt x="0" y="59586"/>
                  <a:pt x="20794" y="40177"/>
                  <a:pt x="46434" y="40177"/>
                </a:cubicBezTo>
                <a:close/>
                <a:moveTo>
                  <a:pt x="267548" y="0"/>
                </a:moveTo>
                <a:cubicBezTo>
                  <a:pt x="275357" y="0"/>
                  <a:pt x="281661" y="5884"/>
                  <a:pt x="281661" y="13173"/>
                </a:cubicBezTo>
                <a:lnTo>
                  <a:pt x="281661" y="94143"/>
                </a:lnTo>
                <a:cubicBezTo>
                  <a:pt x="281661" y="101432"/>
                  <a:pt x="275357" y="107360"/>
                  <a:pt x="267548" y="107360"/>
                </a:cubicBezTo>
                <a:cubicBezTo>
                  <a:pt x="259738" y="107360"/>
                  <a:pt x="253434" y="101476"/>
                  <a:pt x="253434" y="94187"/>
                </a:cubicBezTo>
                <a:lnTo>
                  <a:pt x="253434" y="13173"/>
                </a:lnTo>
                <a:cubicBezTo>
                  <a:pt x="253434" y="5884"/>
                  <a:pt x="259738" y="0"/>
                  <a:pt x="267548" y="0"/>
                </a:cubicBezTo>
                <a:close/>
                <a:moveTo>
                  <a:pt x="122930" y="0"/>
                </a:moveTo>
                <a:cubicBezTo>
                  <a:pt x="130740" y="0"/>
                  <a:pt x="137043" y="5884"/>
                  <a:pt x="137043" y="13173"/>
                </a:cubicBezTo>
                <a:lnTo>
                  <a:pt x="137043" y="94143"/>
                </a:lnTo>
                <a:cubicBezTo>
                  <a:pt x="137043" y="101432"/>
                  <a:pt x="130740" y="107360"/>
                  <a:pt x="122930" y="107360"/>
                </a:cubicBezTo>
                <a:cubicBezTo>
                  <a:pt x="115120" y="107360"/>
                  <a:pt x="108816" y="101476"/>
                  <a:pt x="108816" y="94187"/>
                </a:cubicBezTo>
                <a:lnTo>
                  <a:pt x="108816" y="13173"/>
                </a:lnTo>
                <a:cubicBezTo>
                  <a:pt x="108816" y="5884"/>
                  <a:pt x="115120" y="0"/>
                  <a:pt x="122930" y="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4" name="Text 6"/>
          <p:cNvSpPr/>
          <p:nvPr/>
        </p:nvSpPr>
        <p:spPr>
          <a:xfrm rot="21360000">
            <a:off x="3531870" y="5601970"/>
            <a:ext cx="390525" cy="337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 rot="21360000">
            <a:off x="1066165" y="5552440"/>
            <a:ext cx="1828800" cy="3409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 rot="21360000">
            <a:off x="3974465" y="5553710"/>
            <a:ext cx="1899920" cy="3289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</a:t>
            </a: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2025/08/01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9-05-14:47:59-d2t8f7tnfo2stf9diq2g.jpeg"/>
          <p:cNvPicPr>
            <a:picLocks noChangeAspect="1"/>
          </p:cNvPicPr>
          <p:nvPr/>
        </p:nvPicPr>
        <p:blipFill>
          <a:blip r:embed="rId6"/>
          <a:srcRect l="36509" t="27350" r="27119" b="30226"/>
          <a:stretch>
            <a:fillRect/>
          </a:stretch>
        </p:blipFill>
        <p:spPr>
          <a:xfrm>
            <a:off x="9166805" y="3185508"/>
            <a:ext cx="3036696" cy="3562466"/>
          </a:xfrm>
          <a:prstGeom prst="rect">
            <a:avLst/>
          </a:prstGeom>
        </p:spPr>
      </p:pic>
      <p:pic>
        <p:nvPicPr>
          <p:cNvPr id="18" name="Image 7" descr="https://kimi-img.moonshot.cn/pub/slides/slides_tmpl/image/25-09-05-14:47:58-d2t8f7lnfo2stf9diq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935" y="2840355"/>
            <a:ext cx="2425065" cy="1529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1-d2t8f8dnfo2stf9diqf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75" y="4172952"/>
            <a:ext cx="10675959" cy="1621677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1-d2t8f8dnfo2stf9diqg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5" y="2289164"/>
            <a:ext cx="10675959" cy="1621677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1-d2t8f8dnfo2stf9diqh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531445"/>
            <a:ext cx="12192001" cy="323116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2-d2t8f8lnfo2stf9diq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20"/>
            <a:ext cx="12192000" cy="17121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440000" flipH="1" flipV="1">
            <a:off x="8108327" y="3809732"/>
            <a:ext cx="1154686" cy="463157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8460" y="333790"/>
            <a:ext cx="28692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8" name="Image 5" descr="https://kimi-img.moonshot.cn/pub/slides/slides_tmpl/image/25-09-05-14:47:59-d2t8f7tnfo2stf9diq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20000">
            <a:off x="228599" y="972103"/>
            <a:ext cx="3400317" cy="47208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345327" y="1075928"/>
            <a:ext cx="1094852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1493594" y="2477139"/>
            <a:ext cx="611797" cy="51097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Text 3"/>
          <p:cNvSpPr/>
          <p:nvPr/>
        </p:nvSpPr>
        <p:spPr>
          <a:xfrm>
            <a:off x="1493594" y="2477139"/>
            <a:ext cx="611797" cy="510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1493593" y="2977895"/>
            <a:ext cx="2289549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938566" y="2477139"/>
            <a:ext cx="611797" cy="51097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Text 6"/>
          <p:cNvSpPr/>
          <p:nvPr/>
        </p:nvSpPr>
        <p:spPr>
          <a:xfrm>
            <a:off x="4938566" y="2477139"/>
            <a:ext cx="611797" cy="510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938565" y="2977895"/>
            <a:ext cx="2289549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输入与运算模块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8443116" y="2477139"/>
            <a:ext cx="611797" cy="51097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9"/>
          <p:cNvSpPr/>
          <p:nvPr/>
        </p:nvSpPr>
        <p:spPr>
          <a:xfrm>
            <a:off x="8443116" y="2477139"/>
            <a:ext cx="611797" cy="510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8420255" y="2977895"/>
            <a:ext cx="2289549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动作与姿态模块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493594" y="4416349"/>
            <a:ext cx="611797" cy="51097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Text 12"/>
          <p:cNvSpPr/>
          <p:nvPr/>
        </p:nvSpPr>
        <p:spPr>
          <a:xfrm>
            <a:off x="1493594" y="4416349"/>
            <a:ext cx="611797" cy="510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493593" y="4917105"/>
            <a:ext cx="2289549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环境感知模块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4938566" y="4416349"/>
            <a:ext cx="611797" cy="51097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5"/>
          <p:cNvSpPr/>
          <p:nvPr/>
        </p:nvSpPr>
        <p:spPr>
          <a:xfrm>
            <a:off x="4938566" y="4416349"/>
            <a:ext cx="611797" cy="510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4938565" y="4917105"/>
            <a:ext cx="2289549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网络与数据服务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8443116" y="4416349"/>
            <a:ext cx="611797" cy="51097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6" name="Text 18"/>
          <p:cNvSpPr/>
          <p:nvPr/>
        </p:nvSpPr>
        <p:spPr>
          <a:xfrm>
            <a:off x="8443116" y="4416349"/>
            <a:ext cx="611797" cy="5109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420255" y="4917105"/>
            <a:ext cx="2289549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系统集成与交互</a:t>
            </a:r>
            <a:endParaRPr lang="en-US" sz="1600" dirty="0"/>
          </a:p>
        </p:txBody>
      </p:sp>
      <p:pic>
        <p:nvPicPr>
          <p:cNvPr id="28" name="Image 6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480000">
            <a:off x="101969" y="3290013"/>
            <a:ext cx="1276520" cy="1276520"/>
          </a:xfrm>
          <a:prstGeom prst="rect">
            <a:avLst/>
          </a:prstGeom>
        </p:spPr>
      </p:pic>
      <p:pic>
        <p:nvPicPr>
          <p:cNvPr id="29" name="Image 7" descr="https://kimi-img.moonshot.cn/pub/slides/slides_tmpl/image/25-09-05-14:47:58-d2t8f7lnfo2stf9dip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4929" y="120822"/>
            <a:ext cx="1485375" cy="1485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q0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" y="-2753"/>
            <a:ext cx="5267401" cy="61818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7:58-d2t8f7lnfo2stf9dipvg.png"/>
          <p:cNvPicPr>
            <a:picLocks noChangeAspect="1"/>
          </p:cNvPicPr>
          <p:nvPr/>
        </p:nvPicPr>
        <p:blipFill>
          <a:blip r:embed="rId2"/>
          <a:srcRect t="4" b="4"/>
          <a:stretch>
            <a:fillRect/>
          </a:stretch>
        </p:blipFill>
        <p:spPr>
          <a:xfrm>
            <a:off x="6560458" y="1683562"/>
            <a:ext cx="4999153" cy="1463167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7:58-d2t8f7lnfo2stf9dipvg.png"/>
          <p:cNvPicPr>
            <a:picLocks noChangeAspect="1"/>
          </p:cNvPicPr>
          <p:nvPr/>
        </p:nvPicPr>
        <p:blipFill>
          <a:blip r:embed="rId2"/>
          <a:srcRect t="4" b="4"/>
          <a:stretch>
            <a:fillRect/>
          </a:stretch>
        </p:blipFill>
        <p:spPr>
          <a:xfrm>
            <a:off x="6560458" y="3719532"/>
            <a:ext cx="4999153" cy="1463167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7:59-d2t8f7tnfo2stf9diq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66" y="1722022"/>
            <a:ext cx="5175953" cy="480406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8460" y="333790"/>
            <a:ext cx="2869288" cy="6191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4:47:59-d2t8f7tnfo2stf9diq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228599" y="972103"/>
            <a:ext cx="3400317" cy="47208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345327" y="1075928"/>
            <a:ext cx="1094852" cy="5175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9" name="Image 5" descr="https://kimi-img.moonshot.cn/pub/slides/slides_tmpl/image/25-09-05-14:47:59-d2t8f7tnfo2stf9diq1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374" y="981349"/>
            <a:ext cx="1883146" cy="1179282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06" y="4073055"/>
            <a:ext cx="2106072" cy="2106072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4:47:59-d2t8f7tnfo2stf9diq3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520000">
            <a:off x="10605116" y="2644513"/>
            <a:ext cx="569357" cy="227073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9769" y="5488564"/>
            <a:ext cx="2320134" cy="1140405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4:47:59-d2t8f7tnfo2stf9diq4g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0520" y="1957905"/>
            <a:ext cx="853514" cy="45724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4:47:59-d2t8f7tnfo2stf9diq4g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6260" y="1957905"/>
            <a:ext cx="853514" cy="457240"/>
          </a:xfrm>
          <a:prstGeom prst="rect">
            <a:avLst/>
          </a:prstGeom>
        </p:spPr>
      </p:pic>
      <p:pic>
        <p:nvPicPr>
          <p:cNvPr id="15" name="Image 11" descr="https://kimi-img.moonshot.cn/pub/slides/slides_tmpl/image/25-09-05-14:47:59-d2t8f7tnfo2stf9diq4g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0520" y="3953190"/>
            <a:ext cx="853514" cy="457240"/>
          </a:xfrm>
          <a:prstGeom prst="rect">
            <a:avLst/>
          </a:prstGeom>
        </p:spPr>
      </p:pic>
      <p:pic>
        <p:nvPicPr>
          <p:cNvPr id="16" name="Image 12" descr="https://kimi-img.moonshot.cn/pub/slides/slides_tmpl/image/25-09-05-14:47:59-d2t8f7tnfo2stf9diq50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6260" y="3953190"/>
            <a:ext cx="853514" cy="457240"/>
          </a:xfrm>
          <a:prstGeom prst="rect">
            <a:avLst/>
          </a:prstGeom>
        </p:spPr>
      </p:pic>
      <p:pic>
        <p:nvPicPr>
          <p:cNvPr id="17" name="Image 13" descr="https://kimi-img.moonshot.cn/pub/slides/slides_tmpl/image/25-09-05-14:47:59-d2t8f7tnfo2stf9diq5g.jpe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3995" y="-2753"/>
            <a:ext cx="3475021" cy="591363"/>
          </a:xfrm>
          <a:prstGeom prst="rect">
            <a:avLst/>
          </a:prstGeom>
        </p:spPr>
      </p:pic>
      <p:pic>
        <p:nvPicPr>
          <p:cNvPr id="18" name="Image 14" descr="https://kimi-img.moonshot.cn/pub/slides/slides_tmpl/image/25-09-05-14:47:59-d2t8f7tnfo2stf9diq60.jpe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8929" y="6531445"/>
            <a:ext cx="10114141" cy="323116"/>
          </a:xfrm>
          <a:prstGeom prst="rect">
            <a:avLst/>
          </a:prstGeom>
        </p:spPr>
      </p:pic>
      <p:sp>
        <p:nvSpPr>
          <p:cNvPr id="19" name="Text 2"/>
          <p:cNvSpPr/>
          <p:nvPr/>
        </p:nvSpPr>
        <p:spPr>
          <a:xfrm>
            <a:off x="8601577" y="1952546"/>
            <a:ext cx="820883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3"/>
          <p:cNvSpPr/>
          <p:nvPr/>
        </p:nvSpPr>
        <p:spPr>
          <a:xfrm>
            <a:off x="7341623" y="2557922"/>
            <a:ext cx="3792674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演示与效果</a:t>
            </a:r>
            <a:endParaRPr lang="en-US" sz="1600" dirty="0"/>
          </a:p>
        </p:txBody>
      </p:sp>
      <p:sp>
        <p:nvSpPr>
          <p:cNvPr id="21" name="Text 4"/>
          <p:cNvSpPr/>
          <p:nvPr/>
        </p:nvSpPr>
        <p:spPr>
          <a:xfrm>
            <a:off x="8517076" y="3963679"/>
            <a:ext cx="820883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5"/>
          <p:cNvSpPr/>
          <p:nvPr/>
        </p:nvSpPr>
        <p:spPr>
          <a:xfrm>
            <a:off x="7238377" y="4569058"/>
            <a:ext cx="3821509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项目背景与目标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4-d2t8f95nfo2stf9diq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407907" y="5303906"/>
            <a:ext cx="1076325" cy="116205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5-d2t8f9dnfo2stf9dir1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937" y="1716070"/>
            <a:ext cx="3682303" cy="4438273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4-d2t8f95nfo2stf9dir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13" y="4170783"/>
            <a:ext cx="10583573" cy="1926503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4-d2t8f95nfo2stf9dir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13" y="2133947"/>
            <a:ext cx="10583573" cy="1926503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项目背景与目的</a:t>
            </a:r>
            <a:endParaRPr lang="en-US" sz="1600" dirty="0"/>
          </a:p>
        </p:txBody>
      </p:sp>
      <p:sp>
        <p:nvSpPr>
          <p:cNvPr id="8" name="Shape 1"/>
          <p:cNvSpPr/>
          <p:nvPr/>
        </p:nvSpPr>
        <p:spPr>
          <a:xfrm>
            <a:off x="1496124" y="2178184"/>
            <a:ext cx="684530" cy="63876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2"/>
          <p:cNvSpPr/>
          <p:nvPr/>
        </p:nvSpPr>
        <p:spPr>
          <a:xfrm>
            <a:off x="1496124" y="2178184"/>
            <a:ext cx="684530" cy="638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4000" dirty="0">
                <a:solidFill>
                  <a:srgbClr val="AEA4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916524" y="2816949"/>
            <a:ext cx="1747413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项目缘起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513559" y="2400880"/>
            <a:ext cx="7188127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随着人们对桌面环境智能化需求的增加，我们设计了一款集环境监测、实用工具与互动功能于一体的智能桌宠，旨在提升桌面交互体验。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1496124" y="4307935"/>
            <a:ext cx="684530" cy="63876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6"/>
          <p:cNvSpPr/>
          <p:nvPr/>
        </p:nvSpPr>
        <p:spPr>
          <a:xfrm>
            <a:off x="1496124" y="4307935"/>
            <a:ext cx="684530" cy="638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4000" dirty="0">
                <a:solidFill>
                  <a:srgbClr val="AEA4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16524" y="4946700"/>
            <a:ext cx="1747413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3513559" y="4530631"/>
            <a:ext cx="7188127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通过本项目，我们希望提升嵌入式系统综合应用能力，掌握模块协同开发方法，培养团队在硬件选型、软件架构、状态机调度与网络协议方面的工程实践能力。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1-d2t8fatnfo2stf9dirr0.jpg"/>
          <p:cNvPicPr>
            <a:picLocks noChangeAspect="1"/>
          </p:cNvPicPr>
          <p:nvPr/>
        </p:nvPicPr>
        <p:blipFill>
          <a:blip r:embed="rId1"/>
          <a:srcRect l="7414" t="5310" r="12725"/>
          <a:stretch>
            <a:fillRect/>
          </a:stretch>
        </p:blipFill>
        <p:spPr>
          <a:xfrm>
            <a:off x="6415317" y="752"/>
            <a:ext cx="5776684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8-d2t8fa5nfo2stf9dirk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008" y="0"/>
            <a:ext cx="5779008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8-d2t8fa5nfo2stf9dirj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07" y="3249156"/>
            <a:ext cx="10717697" cy="1487553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8-d2t8fa5nfo2stf9dirj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07" y="4927890"/>
            <a:ext cx="10717697" cy="1487553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8:09-d2t8fadnfo2stf9dirl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07" y="1584936"/>
            <a:ext cx="10717697" cy="148755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15" y="7261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系统整体架构概览</a:t>
            </a:r>
            <a:endParaRPr lang="en-US" sz="1600" dirty="0"/>
          </a:p>
        </p:txBody>
      </p:sp>
      <p:pic>
        <p:nvPicPr>
          <p:cNvPr id="8" name="Image 5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8:10-d2t8falnfo2stf9dirng.png"/>
          <p:cNvPicPr>
            <a:picLocks noChangeAspect="1"/>
          </p:cNvPicPr>
          <p:nvPr/>
        </p:nvPicPr>
        <p:blipFill>
          <a:blip r:embed="rId6"/>
          <a:srcRect l="35463" t="30500" r="3671" b="30426"/>
          <a:stretch>
            <a:fillRect/>
          </a:stretch>
        </p:blipFill>
        <p:spPr>
          <a:xfrm>
            <a:off x="806637" y="1595438"/>
            <a:ext cx="2298513" cy="1475581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4:48:09-d2t8fadnfo2stf9dirlg.png"/>
          <p:cNvPicPr>
            <a:picLocks noChangeAspect="1"/>
          </p:cNvPicPr>
          <p:nvPr/>
        </p:nvPicPr>
        <p:blipFill>
          <a:blip r:embed="rId7"/>
          <a:srcRect t="17901" b="17901"/>
          <a:stretch>
            <a:fillRect/>
          </a:stretch>
        </p:blipFill>
        <p:spPr>
          <a:xfrm flipH="1">
            <a:off x="9194799" y="3248026"/>
            <a:ext cx="2298513" cy="1475581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4:48:09-d2t8fadnfo2stf9dirm0.png"/>
          <p:cNvPicPr>
            <a:picLocks noChangeAspect="1"/>
          </p:cNvPicPr>
          <p:nvPr/>
        </p:nvPicPr>
        <p:blipFill>
          <a:blip r:embed="rId8"/>
          <a:srcRect t="17901" b="17901"/>
          <a:stretch>
            <a:fillRect/>
          </a:stretch>
        </p:blipFill>
        <p:spPr>
          <a:xfrm>
            <a:off x="806637" y="4900613"/>
            <a:ext cx="2298513" cy="1475581"/>
          </a:xfrm>
          <a:prstGeom prst="rect">
            <a:avLst/>
          </a:prstGeom>
        </p:spPr>
      </p:pic>
      <p:pic>
        <p:nvPicPr>
          <p:cNvPr id="12" name="Image 9" descr="https://kimi-img.moonshot.cn/pub/slides/slides_tmpl/image/25-09-05-14:48:09-d2t8fadnfo2stf9dirm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8373" y="690315"/>
            <a:ext cx="3867150" cy="636366"/>
          </a:xfrm>
          <a:prstGeom prst="rect">
            <a:avLst/>
          </a:prstGeom>
        </p:spPr>
      </p:pic>
      <p:pic>
        <p:nvPicPr>
          <p:cNvPr id="13" name="Image 10" descr="https://kimi-img.moonshot.cn/pub/slides/slides_tmpl/image/25-09-05-14:48:09-d2t8fadnfo2stf9dirn0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5" y="5418845"/>
            <a:ext cx="2298391" cy="1463167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3382416" y="1734397"/>
            <a:ext cx="3894683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硬件架构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3280703" y="1958042"/>
            <a:ext cx="8073705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硬件以STM32F10x系列单片机为核心，外接矩阵键盘、OLED屏、RTC、DHT11、DS18B20、双SG90舵机、陀螺仪及ESP8266通信模块，形成完整功能链路。</a:t>
            </a:r>
            <a:endParaRPr lang="en-US" sz="1600" dirty="0"/>
          </a:p>
        </p:txBody>
      </p:sp>
      <p:sp>
        <p:nvSpPr>
          <p:cNvPr id="16" name="Text 3"/>
          <p:cNvSpPr/>
          <p:nvPr/>
        </p:nvSpPr>
        <p:spPr>
          <a:xfrm>
            <a:off x="945541" y="3386985"/>
            <a:ext cx="3894683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软件架构</a:t>
            </a:r>
            <a:endParaRPr lang="en-US" sz="1600" dirty="0"/>
          </a:p>
        </p:txBody>
      </p:sp>
      <p:sp>
        <p:nvSpPr>
          <p:cNvPr id="17" name="Text 4"/>
          <p:cNvSpPr/>
          <p:nvPr/>
        </p:nvSpPr>
        <p:spPr>
          <a:xfrm>
            <a:off x="945541" y="3610630"/>
            <a:ext cx="8073705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软件采用模块化设计，划分为输入、功能、输出与通信四大子系统，主循环通过状态机调度各模块，确保实时响应与低耦合。</a:t>
            </a:r>
            <a:endParaRPr lang="en-US" sz="1600" dirty="0"/>
          </a:p>
        </p:txBody>
      </p:sp>
      <p:sp>
        <p:nvSpPr>
          <p:cNvPr id="18" name="Text 5"/>
          <p:cNvSpPr/>
          <p:nvPr/>
        </p:nvSpPr>
        <p:spPr>
          <a:xfrm>
            <a:off x="3382416" y="5039572"/>
            <a:ext cx="3894683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19" name="Text 6"/>
          <p:cNvSpPr/>
          <p:nvPr/>
        </p:nvSpPr>
        <p:spPr>
          <a:xfrm>
            <a:off x="3280703" y="5263217"/>
            <a:ext cx="8073705" cy="319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该架构兼顾扩展性与可维护性，为后续功能迭代与传感器扩容奠定基础，便于未来升级与优化。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输入与运算模块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0-d2t8falnfo2stf9dirq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7529"/>
            <a:ext cx="12192000" cy="829056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14-d2t8fblnfo2stf9dis70.jpg"/>
          <p:cNvPicPr>
            <a:picLocks noChangeAspect="1"/>
          </p:cNvPicPr>
          <p:nvPr/>
        </p:nvPicPr>
        <p:blipFill>
          <a:blip r:embed="rId2"/>
          <a:srcRect t="42975" b="42975"/>
          <a:stretch>
            <a:fillRect/>
          </a:stretch>
        </p:blipFill>
        <p:spPr>
          <a:xfrm>
            <a:off x="0" y="5145687"/>
            <a:ext cx="12192000" cy="1713021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12-d2t8fb5nfo2stf9dirr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59539"/>
            <a:ext cx="12192000" cy="17129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12-d2t8fb5nfo2stf9dirs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00" y="1871330"/>
            <a:ext cx="3785944" cy="4304149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8:12-d2t8fb5nfo2stf9dirs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671" y="1871330"/>
            <a:ext cx="3785944" cy="430414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15" y="7896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矩阵键盘与计算器实现</a:t>
            </a:r>
            <a:endParaRPr lang="en-US" sz="1600" dirty="0"/>
          </a:p>
        </p:txBody>
      </p:sp>
      <p:pic>
        <p:nvPicPr>
          <p:cNvPr id="8" name="Image 5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8:12-d2t8fb5nfo2stf9dirsg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427" y="1871330"/>
            <a:ext cx="3785944" cy="4304149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1096416" y="2406747"/>
            <a:ext cx="2778897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硬件组成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1015973" y="3153932"/>
            <a:ext cx="2859341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采用4×4矩阵键盘电路，通过行列扫描实现按键检测，支持数字输入与功能键操作。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4816416" y="2406747"/>
            <a:ext cx="2778897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软件实现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4735973" y="3153932"/>
            <a:ext cx="2859341" cy="15998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Scan_Keys()函数完成按键扫描与消抖，Calculator_Run()解析四则运算表达式，Calculator_UpdateDisplay()实时刷新OLED显示结果。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8413988" y="2406747"/>
            <a:ext cx="2778897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功能亮点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8333545" y="3153932"/>
            <a:ext cx="2859341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支持错误提示与溢出保护，确保运算流程清晰可靠，满足日常计算需求。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5-d2t8f9dnfo2stf9dir50.png"/>
          <p:cNvPicPr>
            <a:picLocks noChangeAspect="1"/>
          </p:cNvPicPr>
          <p:nvPr/>
        </p:nvPicPr>
        <p:blipFill>
          <a:blip r:embed="rId1"/>
          <a:srcRect l="8264" r="11149" b="2884"/>
          <a:stretch>
            <a:fillRect/>
          </a:stretch>
        </p:blipFill>
        <p:spPr>
          <a:xfrm>
            <a:off x="6500631" y="-751"/>
            <a:ext cx="5691369" cy="6858751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3-d2t8f8tnfo2stf9diq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46" y="5544836"/>
            <a:ext cx="6971899" cy="8331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0000">
            <a:off x="5750262" y="1691619"/>
            <a:ext cx="1396158" cy="1396158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2215" y="867447"/>
            <a:ext cx="5109313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秒表逻辑与状态管理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777840" y="2999328"/>
            <a:ext cx="4790148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秒表功能实现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736592" y="3386294"/>
            <a:ext cx="4273205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Stopwatch_Run()依据键盘指令在待机、计时、暂停、清零四种状态间切换，采用毫秒级系统滴答中断累加时间基值，Stopwatch_UpdateDisplay()将时间格式化输出到OLED。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环境感知模块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6-d2t8f9lnfo2stf9dir9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8691" y="1927215"/>
            <a:ext cx="3365284" cy="4298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RTC日历与实时时间显示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4:48:06-d2t8f9lnfo2stf9dir9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75" y="1927215"/>
            <a:ext cx="3365284" cy="4298053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4:48:07-d2t8f9tnfo2stf9dird0.png"/>
          <p:cNvPicPr>
            <a:picLocks noChangeAspect="1"/>
          </p:cNvPicPr>
          <p:nvPr/>
        </p:nvPicPr>
        <p:blipFill>
          <a:blip r:embed="rId4"/>
          <a:srcRect b="52438"/>
          <a:stretch>
            <a:fillRect/>
          </a:stretch>
        </p:blipFill>
        <p:spPr>
          <a:xfrm>
            <a:off x="802212" y="1948542"/>
            <a:ext cx="3616245" cy="206927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4:48:07-d2t8f9tnfo2stf9dirf0.png"/>
          <p:cNvPicPr>
            <a:picLocks noChangeAspect="1"/>
          </p:cNvPicPr>
          <p:nvPr/>
        </p:nvPicPr>
        <p:blipFill>
          <a:blip r:embed="rId5"/>
          <a:srcRect t="58628" r="27700"/>
          <a:stretch>
            <a:fillRect/>
          </a:stretch>
        </p:blipFill>
        <p:spPr>
          <a:xfrm>
            <a:off x="802212" y="4155993"/>
            <a:ext cx="3616245" cy="20692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4:48:07-d2t8f9tnfo2stf9dir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9429" y="5839318"/>
            <a:ext cx="8291621" cy="648559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8:07-d2t8f9tnfo2stf9dirbg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1951094"/>
            <a:ext cx="3615241" cy="2066723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4884646" y="2470247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硬件支持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4804202" y="3217432"/>
            <a:ext cx="2859341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依赖STM32内置实时时钟，备用电池保证掉电持续走时，确保时间数据不丢失。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8454015" y="2470247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软件实现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8373571" y="3217432"/>
            <a:ext cx="2859341" cy="1919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Calendar_Init()设置初始时间，Calendar_RefreshCurrentDate()每秒更新时间，Calendar_UpdateDisplay()将日期、星期、时间格式化输出到OLED。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0-d2t8falnfo2stf9diro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609" y="0"/>
            <a:ext cx="2298391" cy="1463167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10-d2t8falnfo2stf9dirp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883" y="1729715"/>
            <a:ext cx="3237257" cy="45663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10-d2t8falnfo2stf9dirp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49" y="1729715"/>
            <a:ext cx="3237257" cy="45663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2215" y="7896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DHT11温湿度数据采集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4:48:11-d2t8fatnfo2stf9dirqg.png"/>
          <p:cNvPicPr>
            <a:picLocks noChangeAspect="1"/>
          </p:cNvPicPr>
          <p:nvPr/>
        </p:nvPicPr>
        <p:blipFill>
          <a:blip r:embed="rId5"/>
          <a:srcRect t="21389" b="21389"/>
          <a:stretch>
            <a:fillRect/>
          </a:stretch>
        </p:blipFill>
        <p:spPr>
          <a:xfrm>
            <a:off x="7803710" y="4216954"/>
            <a:ext cx="3616245" cy="20692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4:48:03-d2t8f8tnfo2stf9diqo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41" y="5669730"/>
            <a:ext cx="8071452" cy="458517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8:05-d2t8f9dnfo2stf9dir4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00000">
            <a:off x="7842069" y="666282"/>
            <a:ext cx="3313638" cy="1049616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4:48:05-d2t8f9dnfo2stf9dir4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00000">
            <a:off x="8144676" y="237812"/>
            <a:ext cx="3313638" cy="1049616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60000">
            <a:off x="266545" y="5546266"/>
            <a:ext cx="1163958" cy="1163958"/>
          </a:xfrm>
          <a:prstGeom prst="rect">
            <a:avLst/>
          </a:prstGeom>
        </p:spPr>
      </p:pic>
      <p:sp>
        <p:nvSpPr>
          <p:cNvPr id="12" name="Text 1"/>
          <p:cNvSpPr/>
          <p:nvPr>
            <p:custDataLst>
              <p:tags r:id="rId9"/>
            </p:custDataLst>
          </p:nvPr>
        </p:nvSpPr>
        <p:spPr>
          <a:xfrm>
            <a:off x="1087906" y="2112528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硬件接入</a:t>
            </a:r>
            <a:endParaRPr lang="en-US" sz="1600" dirty="0"/>
          </a:p>
        </p:txBody>
      </p:sp>
      <p:sp>
        <p:nvSpPr>
          <p:cNvPr id="13" name="Text 2"/>
          <p:cNvSpPr/>
          <p:nvPr>
            <p:custDataLst>
              <p:tags r:id="rId10"/>
            </p:custDataLst>
          </p:nvPr>
        </p:nvSpPr>
        <p:spPr>
          <a:xfrm>
            <a:off x="1004287" y="2870633"/>
            <a:ext cx="2859341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采用单总线通信，主机发送启动信号后读取40位数据，包含温湿度整数与小数部分及校验和。</a:t>
            </a:r>
            <a:endParaRPr lang="en-US" sz="1600" dirty="0"/>
          </a:p>
        </p:txBody>
      </p:sp>
      <p:sp>
        <p:nvSpPr>
          <p:cNvPr id="14" name="Text 3"/>
          <p:cNvSpPr/>
          <p:nvPr>
            <p:custDataLst>
              <p:tags r:id="rId11"/>
            </p:custDataLst>
          </p:nvPr>
        </p:nvSpPr>
        <p:spPr>
          <a:xfrm>
            <a:off x="4505034" y="2112528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数据解析</a:t>
            </a:r>
            <a:endParaRPr lang="en-US" sz="1600" dirty="0"/>
          </a:p>
        </p:txBody>
      </p:sp>
      <p:sp>
        <p:nvSpPr>
          <p:cNvPr id="15" name="Text 4"/>
          <p:cNvSpPr/>
          <p:nvPr>
            <p:custDataLst>
              <p:tags r:id="rId12"/>
            </p:custDataLst>
          </p:nvPr>
        </p:nvSpPr>
        <p:spPr>
          <a:xfrm>
            <a:off x="4421415" y="2870633"/>
            <a:ext cx="2859341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DHT_UpdateDisplay()对校验和进行验证，确保数据完整性后将温湿度值转换为字符串刷新屏幕。</a:t>
            </a:r>
            <a:endParaRPr lang="en-US" sz="1600" dirty="0"/>
          </a:p>
        </p:txBody>
      </p:sp>
      <p:sp>
        <p:nvSpPr>
          <p:cNvPr id="16" name="Text 5"/>
          <p:cNvSpPr/>
          <p:nvPr>
            <p:custDataLst>
              <p:tags r:id="rId13"/>
            </p:custDataLst>
          </p:nvPr>
        </p:nvSpPr>
        <p:spPr>
          <a:xfrm>
            <a:off x="7804769" y="1744229"/>
            <a:ext cx="358395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采集周期</a:t>
            </a:r>
            <a:endParaRPr lang="en-US" sz="1600" dirty="0"/>
          </a:p>
        </p:txBody>
      </p:sp>
      <p:sp>
        <p:nvSpPr>
          <p:cNvPr id="17" name="Text 6"/>
          <p:cNvSpPr/>
          <p:nvPr>
            <p:custDataLst>
              <p:tags r:id="rId14"/>
            </p:custDataLst>
          </p:nvPr>
        </p:nvSpPr>
        <p:spPr>
          <a:xfrm>
            <a:off x="7721150" y="2106007"/>
            <a:ext cx="3775525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采集周期为2秒，兼顾实时性与稳定性，为后续环境数据上传提供可信源。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2-d2t8f8lnfo2stf9diqm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2487082"/>
            <a:ext cx="4474852" cy="440169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3-d2t8f8tnfo2stf9diqn0.png"/>
          <p:cNvPicPr>
            <a:picLocks noChangeAspect="1"/>
          </p:cNvPicPr>
          <p:nvPr/>
        </p:nvPicPr>
        <p:blipFill>
          <a:blip r:embed="rId2"/>
          <a:srcRect t="6963" b="6963"/>
          <a:stretch>
            <a:fillRect/>
          </a:stretch>
        </p:blipFill>
        <p:spPr>
          <a:xfrm>
            <a:off x="0" y="3443216"/>
            <a:ext cx="3984165" cy="3429298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0-d2t8f85nfo2stf9diq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6650176" y="1093010"/>
            <a:ext cx="5135416" cy="71298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7:59-d2t8f7tnfo2stf9diq3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840000">
            <a:off x="10357533" y="4925943"/>
            <a:ext cx="569357" cy="227073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6236" y="392510"/>
            <a:ext cx="1783076" cy="1783076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DS18B20高精度温度探头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5114859" y="2055155"/>
            <a:ext cx="3894025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高精度温度测量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5676265" y="2487295"/>
            <a:ext cx="5942965" cy="369125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/>
              <a:t>通过配置</a:t>
            </a:r>
            <a:r>
              <a:rPr lang="en-US" altLang="zh-CN" sz="1600" dirty="0"/>
              <a:t> GPIOC </a:t>
            </a:r>
            <a:r>
              <a:rPr lang="zh-CN" altLang="en-US" sz="1600" dirty="0"/>
              <a:t>的</a:t>
            </a:r>
            <a:r>
              <a:rPr lang="en-US" altLang="zh-CN" sz="1600" dirty="0"/>
              <a:t> Pin4 </a:t>
            </a:r>
            <a:r>
              <a:rPr lang="zh-CN" altLang="en-US" sz="1600" dirty="0"/>
              <a:t>为双向模式（可切换输入</a:t>
            </a:r>
            <a:r>
              <a:rPr lang="en-US" altLang="zh-CN" sz="1600" dirty="0"/>
              <a:t> / </a:t>
            </a:r>
            <a:r>
              <a:rPr lang="zh-CN" altLang="en-US" sz="1600" dirty="0"/>
              <a:t>输出），遵循</a:t>
            </a:r>
            <a:r>
              <a:rPr lang="en-US" altLang="zh-CN" sz="1600" dirty="0"/>
              <a:t> DS18B20 </a:t>
            </a:r>
            <a:r>
              <a:rPr lang="zh-CN" altLang="en-US" sz="1600" dirty="0"/>
              <a:t>单总线协议驱动传感器：首先通过</a:t>
            </a:r>
            <a:r>
              <a:rPr lang="en-US" altLang="zh-CN" sz="1600" dirty="0"/>
              <a:t>ds18b20_init</a:t>
            </a:r>
            <a:r>
              <a:rPr lang="zh-CN" altLang="en-US" sz="1600" dirty="0"/>
              <a:t>函数使能</a:t>
            </a:r>
            <a:r>
              <a:rPr lang="en-US" altLang="zh-CN" sz="1600" dirty="0"/>
              <a:t> GPIO </a:t>
            </a:r>
            <a:r>
              <a:rPr lang="zh-CN" altLang="en-US" sz="1600" dirty="0"/>
              <a:t>时钟，发送复位信号检测传感器响应，随后发送跳过</a:t>
            </a:r>
            <a:r>
              <a:rPr lang="en-US" altLang="zh-CN" sz="1600" dirty="0"/>
              <a:t> ROM </a:t>
            </a:r>
            <a:r>
              <a:rPr lang="zh-CN" altLang="en-US" sz="1600" dirty="0"/>
              <a:t>指令（</a:t>
            </a:r>
            <a:r>
              <a:rPr lang="en-US" altLang="zh-CN" sz="1600" dirty="0"/>
              <a:t>0xCC</a:t>
            </a:r>
            <a:r>
              <a:rPr lang="zh-CN" altLang="en-US" sz="1600" dirty="0"/>
              <a:t>）、写配置指令（</a:t>
            </a:r>
            <a:r>
              <a:rPr lang="en-US" altLang="zh-CN" sz="1600" dirty="0"/>
              <a:t>0x4E</a:t>
            </a:r>
            <a:r>
              <a:rPr lang="zh-CN" altLang="en-US" sz="1600" dirty="0"/>
              <a:t>）设置温度阈值和分辨率；通过</a:t>
            </a:r>
            <a:r>
              <a:rPr lang="en-US" altLang="zh-CN" sz="1600" dirty="0"/>
              <a:t>ds18b20_writedata</a:t>
            </a:r>
            <a:r>
              <a:rPr lang="zh-CN" altLang="en-US" sz="1600" dirty="0"/>
              <a:t>按位发送数据（拉低总线后输出位信号，保持时序），</a:t>
            </a:r>
            <a:r>
              <a:rPr lang="en-US" altLang="zh-CN" sz="1600" dirty="0"/>
              <a:t>ds18b20_read_data</a:t>
            </a:r>
            <a:r>
              <a:rPr lang="zh-CN" altLang="en-US" sz="1600" dirty="0"/>
              <a:t>按位读取数据（拉低总线后释放，延时后采样输入信号）；最终通过</a:t>
            </a:r>
            <a:r>
              <a:rPr lang="en-US" altLang="zh-CN" sz="1600" dirty="0"/>
              <a:t>get_ds18b20_value</a:t>
            </a:r>
            <a:r>
              <a:rPr lang="zh-CN" altLang="en-US" sz="1600" dirty="0"/>
              <a:t>发送温度转换指令（</a:t>
            </a:r>
            <a:r>
              <a:rPr lang="en-US" altLang="zh-CN" sz="1600" dirty="0"/>
              <a:t>0x44</a:t>
            </a:r>
            <a:r>
              <a:rPr lang="zh-CN" altLang="en-US" sz="1600" dirty="0"/>
              <a:t>）并等待转换完成，再发送读暂存器指令（</a:t>
            </a:r>
            <a:r>
              <a:rPr lang="en-US" altLang="zh-CN" sz="1600" dirty="0"/>
              <a:t>0xBE</a:t>
            </a:r>
            <a:r>
              <a:rPr lang="zh-CN" altLang="en-US" sz="1600" dirty="0"/>
              <a:t>），读取两个字节的温度数据，整个过程通过精确延时保证单总线时序要求。</a:t>
            </a:r>
            <a:endParaRPr lang="zh-CN" alt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动作与姿态模块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2-d2t8fb5nfo2stf9dirt0.jpg"/>
          <p:cNvPicPr>
            <a:picLocks noChangeAspect="1"/>
          </p:cNvPicPr>
          <p:nvPr/>
        </p:nvPicPr>
        <p:blipFill>
          <a:blip r:embed="rId1"/>
          <a:srcRect l="7414" t="40815" r="12725"/>
          <a:stretch>
            <a:fillRect/>
          </a:stretch>
        </p:blipFill>
        <p:spPr>
          <a:xfrm>
            <a:off x="6754" y="-12700"/>
            <a:ext cx="9284512" cy="687145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7-d2t8f9tnfo2stf9dire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" y="-12700"/>
            <a:ext cx="9284512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双舵机风扇角度控制</a:t>
            </a:r>
            <a:endParaRPr lang="zh-CN" altLang="en-US" sz="3600" b="1" kern="0" spc="3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8" name="Image 5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0000">
            <a:off x="9964957" y="494435"/>
            <a:ext cx="1484684" cy="1484684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4:48:07-d2t8f9tnfo2stf9dirg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914" y="-12257"/>
            <a:ext cx="8457714" cy="22466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0560" y="1962150"/>
            <a:ext cx="901827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该项目通过</a:t>
            </a:r>
            <a:r>
              <a:rPr lang="en-US" altLang="zh-CN"/>
              <a:t>STM32</a:t>
            </a:r>
            <a:r>
              <a:rPr lang="zh-CN" altLang="en-US"/>
              <a:t>的定时器</a:t>
            </a:r>
            <a:r>
              <a:rPr lang="en-US" altLang="zh-CN"/>
              <a:t>TIM3</a:t>
            </a:r>
            <a:r>
              <a:rPr lang="zh-CN" altLang="en-US"/>
              <a:t>生成</a:t>
            </a:r>
            <a:r>
              <a:rPr lang="en-US" altLang="zh-CN"/>
              <a:t>PWM</a:t>
            </a:r>
            <a:r>
              <a:rPr lang="zh-CN" altLang="en-US"/>
              <a:t>信号驱动两个</a:t>
            </a:r>
            <a:r>
              <a:rPr lang="en-US" altLang="zh-CN"/>
              <a:t>SG90</a:t>
            </a:r>
            <a:r>
              <a:rPr lang="zh-CN" altLang="en-US"/>
              <a:t>舵机：初始化时配置</a:t>
            </a:r>
            <a:r>
              <a:rPr lang="en-US" altLang="zh-CN"/>
              <a:t>GPIOB</a:t>
            </a:r>
            <a:r>
              <a:rPr lang="zh-CN" altLang="en-US"/>
              <a:t>的</a:t>
            </a:r>
            <a:r>
              <a:rPr lang="en-US" altLang="zh-CN"/>
              <a:t>Pin0</a:t>
            </a:r>
            <a:r>
              <a:rPr lang="zh-CN" altLang="en-US"/>
              <a:t>（</a:t>
            </a:r>
            <a:r>
              <a:rPr lang="en-US" altLang="zh-CN"/>
              <a:t>TIM3_CH3</a:t>
            </a:r>
            <a:r>
              <a:rPr lang="zh-CN" altLang="en-US"/>
              <a:t>）和</a:t>
            </a:r>
            <a:r>
              <a:rPr lang="en-US" altLang="zh-CN"/>
              <a:t>Pin1</a:t>
            </a:r>
            <a:r>
              <a:rPr lang="zh-CN" altLang="en-US"/>
              <a:t>（</a:t>
            </a:r>
            <a:r>
              <a:rPr lang="en-US" altLang="zh-CN"/>
              <a:t>TIM3_CH4</a:t>
            </a:r>
            <a:r>
              <a:rPr lang="zh-CN" altLang="en-US"/>
              <a:t>）为复用推挽输出，设置定时器周期为</a:t>
            </a:r>
            <a:r>
              <a:rPr lang="en-US" altLang="zh-CN"/>
              <a:t>20ms</a:t>
            </a:r>
            <a:r>
              <a:rPr lang="zh-CN" altLang="en-US"/>
              <a:t>（</a:t>
            </a:r>
            <a:r>
              <a:rPr lang="en-US" altLang="zh-CN"/>
              <a:t>Prescaler=71</a:t>
            </a:r>
            <a:r>
              <a:rPr lang="zh-CN" altLang="en-US"/>
              <a:t>，</a:t>
            </a:r>
            <a:r>
              <a:rPr lang="en-US" altLang="zh-CN"/>
              <a:t>Period=19999</a:t>
            </a:r>
            <a:r>
              <a:rPr lang="zh-CN" altLang="en-US"/>
              <a:t>），符合舵机驱动的标准周期；通过</a:t>
            </a:r>
            <a:r>
              <a:rPr lang="en-US" altLang="zh-CN"/>
              <a:t>`SG90_SetAngle1`</a:t>
            </a:r>
            <a:r>
              <a:rPr lang="zh-CN" altLang="en-US"/>
              <a:t>和</a:t>
            </a:r>
            <a:r>
              <a:rPr lang="en-US" altLang="zh-CN"/>
              <a:t>`SG90_SetAngle2`</a:t>
            </a:r>
            <a:r>
              <a:rPr lang="zh-CN" altLang="en-US"/>
              <a:t>函数，将</a:t>
            </a:r>
            <a:r>
              <a:rPr lang="en-US" altLang="zh-CN"/>
              <a:t>0-180</a:t>
            </a:r>
            <a:r>
              <a:rPr lang="zh-CN" altLang="en-US"/>
              <a:t>度的角度值转换为</a:t>
            </a:r>
            <a:r>
              <a:rPr lang="en-US" altLang="zh-CN"/>
              <a:t>500-2500us</a:t>
            </a:r>
            <a:r>
              <a:rPr lang="zh-CN" altLang="en-US"/>
              <a:t>的脉冲宽度（计算公式：</a:t>
            </a:r>
            <a:r>
              <a:rPr lang="en-US" altLang="zh-CN"/>
              <a:t>`pulse = 500 + (angle/180)*2000`</a:t>
            </a:r>
            <a:r>
              <a:rPr lang="zh-CN" altLang="en-US"/>
              <a:t>），并通过</a:t>
            </a:r>
            <a:r>
              <a:rPr lang="en-US" altLang="zh-CN"/>
              <a:t>`TIM_SetCompare3`/`TIM_SetCompare4`</a:t>
            </a:r>
            <a:r>
              <a:rPr lang="zh-CN" altLang="en-US"/>
              <a:t>设置对应通道的</a:t>
            </a:r>
            <a:r>
              <a:rPr lang="en-US" altLang="zh-CN"/>
              <a:t>PWM</a:t>
            </a:r>
            <a:r>
              <a:rPr lang="zh-CN" altLang="en-US"/>
              <a:t>占空比，控制舵机转动到目标角度。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风扇转向的实现通过按键控制：在</a:t>
            </a:r>
            <a:r>
              <a:rPr lang="en-US" altLang="zh-CN"/>
              <a:t>“Fan Adjust”</a:t>
            </a:r>
            <a:r>
              <a:rPr lang="zh-CN" altLang="en-US"/>
              <a:t>功能中，按键</a:t>
            </a:r>
            <a:r>
              <a:rPr lang="en-US" altLang="zh-CN"/>
              <a:t>'2'/'8'</a:t>
            </a:r>
            <a:r>
              <a:rPr lang="zh-CN" altLang="en-US"/>
              <a:t>分别增加</a:t>
            </a:r>
            <a:r>
              <a:rPr lang="en-US" altLang="zh-CN"/>
              <a:t>/</a:t>
            </a:r>
            <a:r>
              <a:rPr lang="zh-CN" altLang="en-US"/>
              <a:t>减少第一个舵机角度（每次</a:t>
            </a:r>
            <a:r>
              <a:rPr lang="en-US" altLang="zh-CN"/>
              <a:t>10</a:t>
            </a:r>
            <a:r>
              <a:rPr lang="zh-CN" altLang="en-US"/>
              <a:t>度，范围</a:t>
            </a:r>
            <a:r>
              <a:rPr lang="en-US" altLang="zh-CN"/>
              <a:t>0-180</a:t>
            </a:r>
            <a:r>
              <a:rPr lang="zh-CN" altLang="en-US"/>
              <a:t>度），按键</a:t>
            </a:r>
            <a:r>
              <a:rPr lang="en-US" altLang="zh-CN"/>
              <a:t>'1'/'7'</a:t>
            </a:r>
            <a:r>
              <a:rPr lang="zh-CN" altLang="en-US"/>
              <a:t>分别控制第二个舵机，调用对应的角度设置函数改变舵机位置，进而调节风扇转向，同时通过</a:t>
            </a:r>
            <a:r>
              <a:rPr lang="en-US" altLang="zh-CN"/>
              <a:t>`Fan_Adjust_UpdateDisplay`</a:t>
            </a:r>
            <a:r>
              <a:rPr lang="zh-CN" altLang="en-US"/>
              <a:t>实时显示当前角度。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2-d2t8fb5nfo2stf9dirt0.jpg"/>
          <p:cNvPicPr>
            <a:picLocks noChangeAspect="1"/>
          </p:cNvPicPr>
          <p:nvPr/>
        </p:nvPicPr>
        <p:blipFill>
          <a:blip r:embed="rId1"/>
          <a:srcRect l="7414" t="40815" r="12725"/>
          <a:stretch>
            <a:fillRect/>
          </a:stretch>
        </p:blipFill>
        <p:spPr>
          <a:xfrm>
            <a:off x="6754" y="-12700"/>
            <a:ext cx="9284512" cy="687145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7-d2t8f9tnfo2stf9dire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" y="-12700"/>
            <a:ext cx="9284512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7-d2t8f9tnfo2stf9dire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15" y="3344809"/>
            <a:ext cx="10705504" cy="14143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7-d2t8f9tnfo2stf9dire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15" y="4926557"/>
            <a:ext cx="10705504" cy="141439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8:07-d2t8f9tnfo2stf9dirf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15" y="1760181"/>
            <a:ext cx="10705504" cy="141439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陀螺仪控制</a:t>
            </a:r>
            <a:r>
              <a:rPr lang="zh-CN" alt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原理</a:t>
            </a:r>
            <a:endParaRPr lang="zh-CN" altLang="en-US" sz="3600" b="1" kern="0" spc="3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8" name="Image 5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60000">
            <a:off x="9964957" y="494435"/>
            <a:ext cx="1484684" cy="1484684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4:48:07-d2t8f9tnfo2stf9dirg0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4914" y="-12257"/>
            <a:ext cx="8457714" cy="224669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248816" y="1975697"/>
            <a:ext cx="3894683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数据采集</a:t>
            </a:r>
            <a:endParaRPr lang="zh-CN" alt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1147104" y="2283474"/>
            <a:ext cx="9897792" cy="737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MPU6050传感器实时采集X、Y、Z三轴的加速度原始数据，通过I2C通信协议传输给STM32主控制器，为姿态计算提供基础数据源。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248816" y="3556847"/>
            <a:ext cx="3894683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姿态解算</a:t>
            </a:r>
            <a:endParaRPr lang="zh-CN" alt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1147104" y="3864624"/>
            <a:ext cx="9897792" cy="737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运用数学算法将加速度数据转换为直观的角度值：俯仰角反映前后倾斜，滚转角反映左右倾斜，通过atan2函数和重力分量分解实现精确的角度计算。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248816" y="5137997"/>
            <a:ext cx="3894683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智能响应</a:t>
            </a:r>
            <a:endParaRPr lang="en-US" sz="2000" b="1" kern="0" spc="11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147104" y="5445774"/>
            <a:ext cx="9897792" cy="737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系统根据计算出的角度值与预设阈值进行比较，自动触发相应的动画切换和声音反馈，实现物理姿态到虚拟动画的实时映射控制。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6-d2t8f9lnfo2stf9dirag.png"/>
          <p:cNvPicPr>
            <a:picLocks noChangeAspect="1"/>
          </p:cNvPicPr>
          <p:nvPr/>
        </p:nvPicPr>
        <p:blipFill>
          <a:blip r:embed="rId1"/>
          <a:srcRect l="34972" t="6588" r="9639" b="31922"/>
          <a:stretch>
            <a:fillRect/>
          </a:stretch>
        </p:blipFill>
        <p:spPr>
          <a:xfrm>
            <a:off x="823465" y="1990028"/>
            <a:ext cx="4750022" cy="4356378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4-d2t8f95nfo2stf9di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60000">
            <a:off x="-32181" y="1475294"/>
            <a:ext cx="12522697" cy="2564171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5-d2t8f9dnfo2stf9dir20.jpe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57357" y="4264795"/>
            <a:ext cx="5425910" cy="213378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5-d2t8f9dnfo2stf9dir2g.jpe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57357" y="1996332"/>
            <a:ext cx="5425910" cy="213378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20000">
            <a:off x="5210175" y="3562350"/>
            <a:ext cx="1088390" cy="1088390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4452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陀螺仪控制动态开机</a:t>
            </a:r>
            <a:r>
              <a:rPr lang="zh-CN" alt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动画</a:t>
            </a:r>
            <a:endParaRPr lang="zh-CN" altLang="en-US" sz="3600" b="1" kern="0" spc="3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9" name="Image 6" descr="https://kimi-img.moonshot.cn/pub/slides/slides_tmpl/image/25-09-05-14:48:05-d2t8f9dnfo2stf9dir30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420" y="1990090"/>
            <a:ext cx="614045" cy="4359275"/>
          </a:xfrm>
          <a:prstGeom prst="rect">
            <a:avLst/>
          </a:prstGeom>
        </p:spPr>
      </p:pic>
      <p:sp>
        <p:nvSpPr>
          <p:cNvPr id="10" name="Shape 1"/>
          <p:cNvSpPr/>
          <p:nvPr>
            <p:custDataLst>
              <p:tags r:id="rId10"/>
            </p:custDataLst>
          </p:nvPr>
        </p:nvSpPr>
        <p:spPr>
          <a:xfrm>
            <a:off x="10547626" y="2092106"/>
            <a:ext cx="684530" cy="63876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Text 2"/>
          <p:cNvSpPr/>
          <p:nvPr>
            <p:custDataLst>
              <p:tags r:id="rId11"/>
            </p:custDataLst>
          </p:nvPr>
        </p:nvSpPr>
        <p:spPr>
          <a:xfrm>
            <a:off x="10547626" y="2092106"/>
            <a:ext cx="684530" cy="638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4000" dirty="0">
                <a:solidFill>
                  <a:srgbClr val="AEA4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3"/>
          <p:cNvSpPr/>
          <p:nvPr>
            <p:custDataLst>
              <p:tags r:id="rId12"/>
            </p:custDataLst>
          </p:nvPr>
        </p:nvSpPr>
        <p:spPr>
          <a:xfrm>
            <a:off x="6405511" y="2270831"/>
            <a:ext cx="4331168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姿态感知</a:t>
            </a:r>
            <a:endParaRPr lang="en-US" sz="2000" b="1" kern="0" spc="11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4"/>
          <p:cNvSpPr/>
          <p:nvPr>
            <p:custDataLst>
              <p:tags r:id="rId13"/>
            </p:custDataLst>
          </p:nvPr>
        </p:nvSpPr>
        <p:spPr>
          <a:xfrm>
            <a:off x="6228150" y="2614225"/>
            <a:ext cx="5084324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陀螺仪实时检测设备倾斜角度，当角度超过45度阈值时触发动画系统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通过俯仰角和滚转角计算，精确判断设备的空间姿态变化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Shape 5"/>
          <p:cNvSpPr/>
          <p:nvPr>
            <p:custDataLst>
              <p:tags r:id="rId14"/>
            </p:custDataLst>
          </p:nvPr>
        </p:nvSpPr>
        <p:spPr>
          <a:xfrm>
            <a:off x="10547626" y="4335244"/>
            <a:ext cx="684530" cy="63876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6"/>
          <p:cNvSpPr/>
          <p:nvPr>
            <p:custDataLst>
              <p:tags r:id="rId15"/>
            </p:custDataLst>
          </p:nvPr>
        </p:nvSpPr>
        <p:spPr>
          <a:xfrm>
            <a:off x="10547626" y="4335244"/>
            <a:ext cx="684530" cy="638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4000" dirty="0">
                <a:solidFill>
                  <a:srgbClr val="AEA40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7"/>
          <p:cNvSpPr/>
          <p:nvPr>
            <p:custDataLst>
              <p:tags r:id="rId16"/>
            </p:custDataLst>
          </p:nvPr>
        </p:nvSpPr>
        <p:spPr>
          <a:xfrm>
            <a:off x="6405511" y="4513969"/>
            <a:ext cx="4331168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动画响应</a:t>
            </a:r>
            <a:endParaRPr lang="en-US" sz="2000" b="1" kern="0" spc="11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Text 8"/>
          <p:cNvSpPr/>
          <p:nvPr>
            <p:custDataLst>
              <p:tags r:id="rId17"/>
            </p:custDataLst>
          </p:nvPr>
        </p:nvSpPr>
        <p:spPr>
          <a:xfrm>
            <a:off x="6228150" y="4857363"/>
            <a:ext cx="5084324" cy="737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algn="just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系统根据倾斜状态自动切换4种小狗动画，实现动态视觉效果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algn="just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配合蜂鸣器声音反馈，形成完整的视听交互体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网络与数据服务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7-d2t8f9tnfo2stf9dirh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60"/>
            <a:ext cx="12192000" cy="68238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7-d2t8f9tnfo2stf9dirgg.jpe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7305" y="1619541"/>
            <a:ext cx="3365284" cy="4840644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7-d2t8f9tnfo2stf9dirgg.jpe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120408" y="1619541"/>
            <a:ext cx="3365284" cy="4840644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7-d2t8f9tnfo2stf9dirh0.jpe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13358" y="1619541"/>
            <a:ext cx="3365284" cy="48406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2215" y="8023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环境数据服务器上传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4:48:08-d2t8fa5nfo2stf9dirig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31211" b="31211"/>
          <a:stretch>
            <a:fillRect/>
          </a:stretch>
        </p:blipFill>
        <p:spPr>
          <a:xfrm>
            <a:off x="834067" y="1648116"/>
            <a:ext cx="3322898" cy="1243938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8:08-d2t8fa5nfo2stf9diri0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31282" b="31282"/>
          <a:stretch>
            <a:fillRect/>
          </a:stretch>
        </p:blipFill>
        <p:spPr>
          <a:xfrm>
            <a:off x="4437595" y="1648116"/>
            <a:ext cx="3322898" cy="1243938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4:48:08-d2t8fa5nfo2stf9dirj0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31282" b="31282"/>
          <a:stretch>
            <a:fillRect/>
          </a:stretch>
        </p:blipFill>
        <p:spPr>
          <a:xfrm>
            <a:off x="8149964" y="1648116"/>
            <a:ext cx="3322898" cy="1243938"/>
          </a:xfrm>
          <a:prstGeom prst="rect">
            <a:avLst/>
          </a:prstGeom>
        </p:spPr>
      </p:pic>
      <p:sp>
        <p:nvSpPr>
          <p:cNvPr id="11" name="Text 1"/>
          <p:cNvSpPr/>
          <p:nvPr>
            <p:custDataLst>
              <p:tags r:id="rId14"/>
            </p:custDataLst>
          </p:nvPr>
        </p:nvSpPr>
        <p:spPr>
          <a:xfrm>
            <a:off x="1115467" y="3057723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网络连接</a:t>
            </a:r>
            <a:endParaRPr lang="en-US" sz="1600" dirty="0"/>
          </a:p>
        </p:txBody>
      </p:sp>
      <p:sp>
        <p:nvSpPr>
          <p:cNvPr id="12" name="Text 2"/>
          <p:cNvSpPr/>
          <p:nvPr>
            <p:custDataLst>
              <p:tags r:id="rId15"/>
            </p:custDataLst>
          </p:nvPr>
        </p:nvSpPr>
        <p:spPr>
          <a:xfrm>
            <a:off x="1031848" y="3641704"/>
            <a:ext cx="2859341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模块上电后通过指令连接预设Wi-Fi，建立TCP链接并采用HTTP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</a:t>
            </a: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方式上传数据包。</a:t>
            </a:r>
            <a:endParaRPr lang="en-US" sz="1600" dirty="0"/>
          </a:p>
        </p:txBody>
      </p:sp>
      <p:sp>
        <p:nvSpPr>
          <p:cNvPr id="13" name="Text 3"/>
          <p:cNvSpPr/>
          <p:nvPr>
            <p:custDataLst>
              <p:tags r:id="rId16"/>
            </p:custDataLst>
          </p:nvPr>
        </p:nvSpPr>
        <p:spPr>
          <a:xfrm>
            <a:off x="4718995" y="3057723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数据内容</a:t>
            </a:r>
            <a:endParaRPr lang="en-US" sz="1600" dirty="0"/>
          </a:p>
        </p:txBody>
      </p:sp>
      <p:sp>
        <p:nvSpPr>
          <p:cNvPr id="14" name="Text 4"/>
          <p:cNvSpPr/>
          <p:nvPr>
            <p:custDataLst>
              <p:tags r:id="rId17"/>
            </p:custDataLst>
          </p:nvPr>
        </p:nvSpPr>
        <p:spPr>
          <a:xfrm>
            <a:off x="4635376" y="3641704"/>
            <a:ext cx="2859341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数据包包含温度、湿度，服务器端可实时查看环境曲线，实现远程监控与数据持久化。</a:t>
            </a:r>
            <a:endParaRPr lang="en-US" sz="1600" dirty="0"/>
          </a:p>
        </p:txBody>
      </p:sp>
      <p:sp>
        <p:nvSpPr>
          <p:cNvPr id="15" name="Text 5"/>
          <p:cNvSpPr/>
          <p:nvPr>
            <p:custDataLst>
              <p:tags r:id="rId18"/>
            </p:custDataLst>
          </p:nvPr>
        </p:nvSpPr>
        <p:spPr>
          <a:xfrm>
            <a:off x="8431364" y="3057723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异常处理</a:t>
            </a:r>
            <a:endParaRPr lang="en-US" sz="1600" dirty="0"/>
          </a:p>
        </p:txBody>
      </p:sp>
      <p:sp>
        <p:nvSpPr>
          <p:cNvPr id="16" name="Text 6"/>
          <p:cNvSpPr/>
          <p:nvPr>
            <p:custDataLst>
              <p:tags r:id="rId19"/>
            </p:custDataLst>
          </p:nvPr>
        </p:nvSpPr>
        <p:spPr>
          <a:xfrm>
            <a:off x="8347745" y="3641704"/>
            <a:ext cx="2859341" cy="737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若网络中断则缓存最近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</a:t>
            </a: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数据待恢复后补发，确保数据完整性。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系统集成与交互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0-d2t8falnfo2stf9diro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14472"/>
            <a:ext cx="12192000" cy="829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215" y="7261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主程序与状态机调度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4:48:13-d2t8fbdnfo2stf9dis3g.jpg"/>
          <p:cNvPicPr>
            <a:picLocks noChangeAspect="1"/>
          </p:cNvPicPr>
          <p:nvPr/>
        </p:nvPicPr>
        <p:blipFill>
          <a:blip r:embed="rId3"/>
          <a:srcRect t="36370" b="45428"/>
          <a:stretch>
            <a:fillRect/>
          </a:stretch>
        </p:blipFill>
        <p:spPr>
          <a:xfrm>
            <a:off x="803276" y="1571230"/>
            <a:ext cx="10693400" cy="1946369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4:47:59-d2t8f7tnfo2stf9diq9g.png"/>
          <p:cNvPicPr>
            <a:picLocks noChangeAspect="1"/>
          </p:cNvPicPr>
          <p:nvPr/>
        </p:nvPicPr>
        <p:blipFill>
          <a:blip r:embed="rId4"/>
          <a:srcRect t="21" b="21"/>
          <a:stretch>
            <a:fillRect/>
          </a:stretch>
        </p:blipFill>
        <p:spPr>
          <a:xfrm>
            <a:off x="8775065" y="839470"/>
            <a:ext cx="1480820" cy="14808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 rot="2280000">
            <a:off x="9011285" y="1426210"/>
            <a:ext cx="1021080" cy="339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kern="0" spc="-5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Details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976381" y="3829305"/>
            <a:ext cx="3562537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系统初始化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900224" y="4137082"/>
            <a:ext cx="3360880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System_Init()依次初始化时钟、GPIO、OLED、传感器、网络与定时器，确保各模块正常运行。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96974" y="3829305"/>
            <a:ext cx="3562537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状态机调度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520817" y="4137082"/>
            <a:ext cx="336088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主循环内Key_Process()捕获按键事件，Change_State()根据当前状态与按键映射切换功能模块，System_Update()周期性调用各模块刷新函数。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177612" y="3829305"/>
            <a:ext cx="3562537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101455" y="4137082"/>
            <a:ext cx="3360880" cy="9598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状态机保证同一时刻仅一个功能占用显示与输入资源，实现菜单式交互，降低模块耦合度。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2-d2t8f8lnfo2stf9diqm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96" y="5825489"/>
            <a:ext cx="10123136" cy="104702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03-d2t8f8tnfo2stf9diq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667" y="1126195"/>
            <a:ext cx="3414056" cy="51271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04-d2t8f95nfo2stf9diqr0.png"/>
          <p:cNvPicPr>
            <a:picLocks noChangeAspect="1"/>
          </p:cNvPicPr>
          <p:nvPr/>
        </p:nvPicPr>
        <p:blipFill>
          <a:blip r:embed="rId3"/>
          <a:srcRect l="15305" r="15305"/>
          <a:stretch>
            <a:fillRect/>
          </a:stretch>
        </p:blipFill>
        <p:spPr>
          <a:xfrm>
            <a:off x="7823655" y="998220"/>
            <a:ext cx="3564255" cy="513651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03-d2t8f8tnfo2stf9diqo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46" y="4679574"/>
            <a:ext cx="6971899" cy="8331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42216" y="867447"/>
            <a:ext cx="4595806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菜单系统与用户流程</a:t>
            </a:r>
            <a:endParaRPr lang="en-US" sz="1600" dirty="0"/>
          </a:p>
        </p:txBody>
      </p:sp>
      <p:pic>
        <p:nvPicPr>
          <p:cNvPr id="8" name="Image 5" descr="https://kimi-img.moonshot.cn/pub/slides/slides_tmpl/image/25-09-05-14:47:59-d2t8f7tnfo2stf9diq9g.png"/>
          <p:cNvPicPr>
            <a:picLocks noChangeAspect="1"/>
          </p:cNvPicPr>
          <p:nvPr/>
        </p:nvPicPr>
        <p:blipFill>
          <a:blip r:embed="rId6"/>
          <a:srcRect t="21" b="21"/>
          <a:stretch>
            <a:fillRect/>
          </a:stretch>
        </p:blipFill>
        <p:spPr>
          <a:xfrm>
            <a:off x="7058025" y="543560"/>
            <a:ext cx="1480820" cy="148082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280000">
            <a:off x="7294245" y="1130300"/>
            <a:ext cx="1021080" cy="339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kern="0" spc="-5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835899" y="2767099"/>
            <a:ext cx="4790148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交互逻辑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729482" y="3074102"/>
            <a:ext cx="5325193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Show_Main_Menu()在OLED首页列出所有功能选项，对应数字键直达；独立返回键可退回菜单，防止深层迷路。通过视觉焦点高亮当前选中项，配合键盘短按与长按区分确认与退出，形成简洁直观的桌面级交互体验。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3-d2t8f8tnfo2stf9diqp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59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951" y="4760274"/>
            <a:ext cx="4790148" cy="269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2215" y="3973505"/>
            <a:ext cx="6772862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功能说明：系统启动时自动播放预设音乐，增强设备开机仪式感与交互体验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硬件支持：蜂鸣器（代码中包含buzzer_init()初始化函数）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软件实现：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初始化：系统初始化阶段完成蜂鸣器硬件配置（关联buzzer_init()）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播放控制：通过play_music()函数实现音乐播放逻辑（main.c 中存在调用注释）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触发时机：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重启后自动播放开机音乐之后显示菜单</a:t>
            </a:r>
            <a:endParaRPr lang="zh-CN" alt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关键技术：PWM 脉冲信号控制蜂鸣器发声、音乐节拍与频率映射（通过不同占空比实现音调变化）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p0.png"/>
          <p:cNvPicPr>
            <a:picLocks noChangeAspect="1"/>
          </p:cNvPicPr>
          <p:nvPr/>
        </p:nvPicPr>
        <p:blipFill>
          <a:blip r:embed="rId2"/>
          <a:srcRect t="6963" b="6963"/>
          <a:stretch>
            <a:fillRect/>
          </a:stretch>
        </p:blipFill>
        <p:spPr>
          <a:xfrm>
            <a:off x="7924801" y="1641644"/>
            <a:ext cx="3571874" cy="4663722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0000">
            <a:off x="10697108" y="5315091"/>
            <a:ext cx="1396158" cy="1396158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开机音乐模块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演示与效果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关键界面与运行截图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5-14:48:07-d2t8f9tnfo2stf9dir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125" y="254000"/>
            <a:ext cx="1978760" cy="972611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4:48:07-d2t8f9tnfo2stf9dird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408" y="978419"/>
            <a:ext cx="1469328" cy="722212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4:48:05-d2t8f9dnfo2stf9dir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 flipH="1" flipV="1">
            <a:off x="836383" y="5526725"/>
            <a:ext cx="7754468" cy="130778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8-d2t8f7lnfo2stf9dip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380000" flipH="1">
            <a:off x="3919783" y="722190"/>
            <a:ext cx="963743" cy="38656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6589" y="2950987"/>
            <a:ext cx="2872142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3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0250" y="4970780"/>
            <a:ext cx="5547995" cy="4891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5-14:48:03-d2t8f8tnfo2stf9diqog.png"/>
          <p:cNvPicPr>
            <a:picLocks noChangeAspect="1"/>
          </p:cNvPicPr>
          <p:nvPr/>
        </p:nvPicPr>
        <p:blipFill>
          <a:blip r:embed="rId2"/>
          <a:srcRect t="33324" r="28334" b="4990"/>
          <a:stretch>
            <a:fillRect/>
          </a:stretch>
        </p:blipFill>
        <p:spPr>
          <a:xfrm>
            <a:off x="0" y="2452914"/>
            <a:ext cx="4910499" cy="4405383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5-14:47:59-d2t8f7tnfo2stf9diq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103" y="2380526"/>
            <a:ext cx="2320134" cy="1140405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4:48:01-d2t8f8dnfo2stf9diq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8213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4:48:01-d2t8f8dnfo2stf9diq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757" y="6302181"/>
            <a:ext cx="981930" cy="1718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4-d2t8fblnfo2stf9disb0.png"/>
          <p:cNvPicPr>
            <a:picLocks noChangeAspect="1"/>
          </p:cNvPicPr>
          <p:nvPr/>
        </p:nvPicPr>
        <p:blipFill>
          <a:blip r:embed="rId1"/>
          <a:srcRect l="17778" r="17778"/>
          <a:stretch>
            <a:fillRect/>
          </a:stretch>
        </p:blipFill>
        <p:spPr>
          <a:xfrm>
            <a:off x="7772400" y="752"/>
            <a:ext cx="4419602" cy="6857999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13-d2t8fbdnfo2stf9dis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281" y="0"/>
            <a:ext cx="3968496" cy="68580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13-d2t8fbdnfo2stf9dis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6" y="4078167"/>
            <a:ext cx="10699407" cy="2322777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13-d2t8fbdnfo2stf9dis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96" y="1593772"/>
            <a:ext cx="10699407" cy="2322777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2215" y="7896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项目成果与技术亮点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4:48:09-d2t8fadnfo2stf9dirm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373" y="690315"/>
            <a:ext cx="3867150" cy="63636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107104" y="1827960"/>
            <a:ext cx="3865625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功能集成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1025775" y="2087748"/>
            <a:ext cx="4676526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系统共集成8大模块，涵盖输入、感知、动作、网络全链路，实现桌面环境智能化。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107104" y="4304460"/>
            <a:ext cx="3865625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1025775" y="4564248"/>
            <a:ext cx="4676526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采用状态机与事件驱动架构，实现毫秒级按键响应与低功耗待机，提升用户体验。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6286500" y="1827960"/>
            <a:ext cx="3865625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协议兼容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6205171" y="2087748"/>
            <a:ext cx="4676526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单总线、1-Wire、PWM、I2C多协议并行运行无冲突，确保硬件模块协同工作。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6286500" y="4304460"/>
            <a:ext cx="3865625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可靠性提升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6205171" y="4564248"/>
            <a:ext cx="4676526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双温度传感器交叉验证提升可靠性，网络上传实现断线重连与数据补发，确保数据完整性。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06-d2t8f9lnfo2stf9dir8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2279508"/>
            <a:ext cx="12192002" cy="34994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215" y="867447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问题反思与解决策略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4:48:06-d2t8f9lnfo2stf9dir7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358" y="1939379"/>
            <a:ext cx="3365284" cy="4298053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4:48:06-d2t8f9lnfo2stf9dir8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51" y="1939379"/>
            <a:ext cx="3365284" cy="4298053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0000">
            <a:off x="8945921" y="522849"/>
            <a:ext cx="950018" cy="950018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0000">
            <a:off x="10119629" y="522849"/>
            <a:ext cx="950018" cy="950018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0000">
            <a:off x="7772214" y="522848"/>
            <a:ext cx="950018" cy="950018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4:48:03-d2t8f8tnfo2stf9diqo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41" y="5858781"/>
            <a:ext cx="8071452" cy="458517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4:48:06-d2t8f9lnfo2stf9dir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465" y="1902800"/>
            <a:ext cx="3511600" cy="4334632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096417" y="2470247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问题回顾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015973" y="3217432"/>
            <a:ext cx="2859341" cy="15998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开发中遇到DHT11时序严格导致校验失败、ESP8266上电电流大引起电压跌落、舵机PWM与OLED I2C共享总线出现抖动、颠倒检测阈值过敏感等问题。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4761159" y="2470247"/>
            <a:ext cx="2172166" cy="317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解决策略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4680715" y="3217432"/>
            <a:ext cx="2859341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通过降低中断优先级、独立LDO供电、硬件PWM优化、滑动窗口滤波等策略，显著降低误触发率，提升系统稳定性。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7:59-d2t8f7tnfo2stf9diq8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6222" y="0"/>
            <a:ext cx="3475021" cy="59136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14-d2t8fblnfo2stf9dis90.png"/>
          <p:cNvPicPr>
            <a:picLocks noChangeAspect="1"/>
          </p:cNvPicPr>
          <p:nvPr/>
        </p:nvPicPr>
        <p:blipFill>
          <a:blip r:embed="rId2"/>
          <a:srcRect t="42975" b="42975"/>
          <a:stretch>
            <a:fillRect/>
          </a:stretch>
        </p:blipFill>
        <p:spPr>
          <a:xfrm>
            <a:off x="4984822" y="2907605"/>
            <a:ext cx="2054054" cy="2058342"/>
          </a:xfrm>
          <a:prstGeom prst="ellipse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2215" y="78961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600" b="1" kern="0" spc="3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未来扩展与优化方向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4:48:02-d2t8f8lnfo2stf9diq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680000">
            <a:off x="625943" y="-292917"/>
            <a:ext cx="410596" cy="1637554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4:47:59-d2t8f7tnfo2stf9diq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0000">
            <a:off x="5269507" y="3204703"/>
            <a:ext cx="1484684" cy="1484684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4:48:04-d2t8f95nfo2stf9diq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00000">
            <a:off x="9941494" y="234438"/>
            <a:ext cx="1023136" cy="1104624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4:48:13-d2t8fbdnfo2stf9dis50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117068"/>
            <a:ext cx="12192000" cy="40843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76531" y="1824315"/>
            <a:ext cx="3429709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传感器扩展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63021" y="2188564"/>
            <a:ext cx="4329926" cy="517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增加光照、噪音、空气质量传感器，丰富环境监测维度，满足更多场景需求。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776531" y="4305260"/>
            <a:ext cx="3429709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交互优化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663021" y="4658079"/>
            <a:ext cx="4329926" cy="517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移植语音识别芯片，实现免触摸控制，提升交互便捷性。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7268291" y="1831173"/>
            <a:ext cx="3429709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网络升级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7164786" y="2189072"/>
            <a:ext cx="4329926" cy="517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支持MQTT订阅，实现远程命令下发与固件OTA，提升系统智能化水平。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7268291" y="4302466"/>
            <a:ext cx="3429709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kern="0" spc="11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外观设计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7164786" y="4658460"/>
            <a:ext cx="4329926" cy="517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3D打印一体化外壳，隐藏排线并增加RGB情绪灯效，向消费级桌面伴侣产品演进。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48:10-d2t8falnfo2stf9dirq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01538"/>
            <a:ext cx="12192000" cy="829056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48:14-d2t8fblnfo2stf9dis70.jpg"/>
          <p:cNvPicPr>
            <a:picLocks noChangeAspect="1"/>
          </p:cNvPicPr>
          <p:nvPr/>
        </p:nvPicPr>
        <p:blipFill>
          <a:blip r:embed="rId2"/>
          <a:srcRect t="42975" b="42975"/>
          <a:stretch>
            <a:fillRect/>
          </a:stretch>
        </p:blipFill>
        <p:spPr>
          <a:xfrm>
            <a:off x="0" y="0"/>
            <a:ext cx="12192000" cy="1713021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48:14-d2t8fblnfo2stf9disa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"/>
            <a:ext cx="12192000" cy="17129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4:48:15-d2t8fbtnfo2stf9disc0.png"/>
          <p:cNvPicPr>
            <a:picLocks noChangeAspect="1"/>
          </p:cNvPicPr>
          <p:nvPr/>
        </p:nvPicPr>
        <p:blipFill>
          <a:blip r:embed="rId4"/>
          <a:srcRect l="7425" t="8315" r="15740"/>
          <a:stretch>
            <a:fillRect/>
          </a:stretch>
        </p:blipFill>
        <p:spPr>
          <a:xfrm>
            <a:off x="756104" y="905044"/>
            <a:ext cx="4392845" cy="524175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135302" y="2072786"/>
            <a:ext cx="4986139" cy="936625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60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5642200" y="3009739"/>
            <a:ext cx="5889400" cy="1219398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7200" dirty="0">
                <a:solidFill>
                  <a:srgbClr val="0D0D0D"/>
                </a:solidFill>
                <a:latin typeface="仓耳玄三M W05" pitchFamily="34" charset="0"/>
                <a:ea typeface="仓耳玄三M W05" pitchFamily="34" charset="-122"/>
                <a:cs typeface="仓耳玄三M W05" pitchFamily="34" charset="-120"/>
              </a:rPr>
              <a:t>感谢大家观看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9-05-14:47:58-d2t8f7lnfo2stf9dip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600" y="492415"/>
            <a:ext cx="1457326" cy="1457326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4:48:03-d2t8f8tnfo2stf9diqo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016" y="4147867"/>
            <a:ext cx="6403486" cy="615543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4:47:58-d2t8f7lnfo2stf9dipu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6490" y="5040630"/>
            <a:ext cx="2556510" cy="67056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4:47:58-d2t8f7lnfo2stf9dipu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3910" y="5040630"/>
            <a:ext cx="2649220" cy="67056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 rot="21420000">
            <a:off x="6049010" y="5257165"/>
            <a:ext cx="345440" cy="337185"/>
          </a:xfrm>
          <a:custGeom>
            <a:avLst/>
            <a:gdLst/>
            <a:ahLst/>
            <a:cxnLst/>
            <a:rect l="l" t="t" r="r" b="b"/>
            <a:pathLst>
              <a:path w="345440" h="337185">
                <a:moveTo>
                  <a:pt x="173709" y="181551"/>
                </a:moveTo>
                <a:cubicBezTo>
                  <a:pt x="287803" y="181551"/>
                  <a:pt x="328526" y="230017"/>
                  <a:pt x="345440" y="280473"/>
                </a:cubicBezTo>
                <a:cubicBezTo>
                  <a:pt x="354963" y="308910"/>
                  <a:pt x="329659" y="337185"/>
                  <a:pt x="294605" y="337185"/>
                </a:cubicBezTo>
                <a:lnTo>
                  <a:pt x="52857" y="337185"/>
                </a:lnTo>
                <a:cubicBezTo>
                  <a:pt x="17804" y="337185"/>
                  <a:pt x="-7501" y="308910"/>
                  <a:pt x="2022" y="280473"/>
                </a:cubicBezTo>
                <a:cubicBezTo>
                  <a:pt x="18891" y="230017"/>
                  <a:pt x="59614" y="181551"/>
                  <a:pt x="173709" y="181551"/>
                </a:cubicBezTo>
                <a:close/>
                <a:moveTo>
                  <a:pt x="173709" y="0"/>
                </a:moveTo>
                <a:cubicBezTo>
                  <a:pt x="224906" y="0"/>
                  <a:pt x="266399" y="37131"/>
                  <a:pt x="266354" y="82996"/>
                </a:cubicBezTo>
                <a:cubicBezTo>
                  <a:pt x="266354" y="128820"/>
                  <a:pt x="224861" y="165992"/>
                  <a:pt x="173709" y="165992"/>
                </a:cubicBezTo>
                <a:cubicBezTo>
                  <a:pt x="122556" y="165992"/>
                  <a:pt x="81063" y="128820"/>
                  <a:pt x="81063" y="82996"/>
                </a:cubicBezTo>
                <a:cubicBezTo>
                  <a:pt x="81063" y="37131"/>
                  <a:pt x="122556" y="0"/>
                  <a:pt x="173709" y="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3" name="Text 3"/>
          <p:cNvSpPr/>
          <p:nvPr/>
        </p:nvSpPr>
        <p:spPr>
          <a:xfrm rot="21420000">
            <a:off x="6049010" y="5257165"/>
            <a:ext cx="345440" cy="337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4"/>
          <p:cNvSpPr/>
          <p:nvPr/>
        </p:nvSpPr>
        <p:spPr>
          <a:xfrm rot="21360000">
            <a:off x="8877935" y="5248275"/>
            <a:ext cx="390525" cy="337185"/>
          </a:xfrm>
          <a:custGeom>
            <a:avLst/>
            <a:gdLst/>
            <a:ahLst/>
            <a:cxnLst/>
            <a:rect l="l" t="t" r="r" b="b"/>
            <a:pathLst>
              <a:path w="390525" h="337185">
                <a:moveTo>
                  <a:pt x="142998" y="40177"/>
                </a:moveTo>
                <a:lnTo>
                  <a:pt x="248767" y="40177"/>
                </a:lnTo>
                <a:lnTo>
                  <a:pt x="248767" y="66524"/>
                </a:lnTo>
                <a:lnTo>
                  <a:pt x="142998" y="66524"/>
                </a:lnTo>
                <a:close/>
                <a:moveTo>
                  <a:pt x="46434" y="40177"/>
                </a:moveTo>
                <a:lnTo>
                  <a:pt x="103754" y="40177"/>
                </a:lnTo>
                <a:lnTo>
                  <a:pt x="103754" y="66524"/>
                </a:lnTo>
                <a:lnTo>
                  <a:pt x="46434" y="66524"/>
                </a:lnTo>
                <a:cubicBezTo>
                  <a:pt x="36366" y="66524"/>
                  <a:pt x="28228" y="74164"/>
                  <a:pt x="28228" y="83517"/>
                </a:cubicBezTo>
                <a:lnTo>
                  <a:pt x="28228" y="129930"/>
                </a:lnTo>
                <a:lnTo>
                  <a:pt x="362251" y="129930"/>
                </a:lnTo>
                <a:lnTo>
                  <a:pt x="362251" y="83517"/>
                </a:lnTo>
                <a:cubicBezTo>
                  <a:pt x="362251" y="74120"/>
                  <a:pt x="354065" y="66524"/>
                  <a:pt x="344044" y="66524"/>
                </a:cubicBezTo>
                <a:lnTo>
                  <a:pt x="288011" y="66524"/>
                </a:lnTo>
                <a:lnTo>
                  <a:pt x="288011" y="40177"/>
                </a:lnTo>
                <a:lnTo>
                  <a:pt x="344044" y="40177"/>
                </a:lnTo>
                <a:cubicBezTo>
                  <a:pt x="369684" y="40177"/>
                  <a:pt x="390478" y="59586"/>
                  <a:pt x="390525" y="83517"/>
                </a:cubicBezTo>
                <a:lnTo>
                  <a:pt x="390525" y="293846"/>
                </a:lnTo>
                <a:cubicBezTo>
                  <a:pt x="390525" y="317689"/>
                  <a:pt x="369637" y="337185"/>
                  <a:pt x="344091" y="337185"/>
                </a:cubicBezTo>
                <a:lnTo>
                  <a:pt x="46434" y="337185"/>
                </a:lnTo>
                <a:cubicBezTo>
                  <a:pt x="20888" y="337185"/>
                  <a:pt x="0" y="317689"/>
                  <a:pt x="0" y="293846"/>
                </a:cubicBezTo>
                <a:lnTo>
                  <a:pt x="0" y="156276"/>
                </a:lnTo>
                <a:lnTo>
                  <a:pt x="0" y="129930"/>
                </a:lnTo>
                <a:lnTo>
                  <a:pt x="0" y="83517"/>
                </a:lnTo>
                <a:cubicBezTo>
                  <a:pt x="0" y="59586"/>
                  <a:pt x="20794" y="40177"/>
                  <a:pt x="46434" y="40177"/>
                </a:cubicBezTo>
                <a:close/>
                <a:moveTo>
                  <a:pt x="267548" y="0"/>
                </a:moveTo>
                <a:cubicBezTo>
                  <a:pt x="275357" y="0"/>
                  <a:pt x="281661" y="5884"/>
                  <a:pt x="281661" y="13173"/>
                </a:cubicBezTo>
                <a:lnTo>
                  <a:pt x="281661" y="94143"/>
                </a:lnTo>
                <a:cubicBezTo>
                  <a:pt x="281661" y="101432"/>
                  <a:pt x="275357" y="107360"/>
                  <a:pt x="267548" y="107360"/>
                </a:cubicBezTo>
                <a:cubicBezTo>
                  <a:pt x="259738" y="107360"/>
                  <a:pt x="253434" y="101476"/>
                  <a:pt x="253434" y="94187"/>
                </a:cubicBezTo>
                <a:lnTo>
                  <a:pt x="253434" y="13173"/>
                </a:lnTo>
                <a:cubicBezTo>
                  <a:pt x="253434" y="5884"/>
                  <a:pt x="259738" y="0"/>
                  <a:pt x="267548" y="0"/>
                </a:cubicBezTo>
                <a:close/>
                <a:moveTo>
                  <a:pt x="122930" y="0"/>
                </a:moveTo>
                <a:cubicBezTo>
                  <a:pt x="130740" y="0"/>
                  <a:pt x="137043" y="5884"/>
                  <a:pt x="137043" y="13173"/>
                </a:cubicBezTo>
                <a:lnTo>
                  <a:pt x="137043" y="94143"/>
                </a:lnTo>
                <a:cubicBezTo>
                  <a:pt x="137043" y="101432"/>
                  <a:pt x="130740" y="107360"/>
                  <a:pt x="122930" y="107360"/>
                </a:cubicBezTo>
                <a:cubicBezTo>
                  <a:pt x="115120" y="107360"/>
                  <a:pt x="108816" y="101476"/>
                  <a:pt x="108816" y="94187"/>
                </a:cubicBezTo>
                <a:lnTo>
                  <a:pt x="108816" y="13173"/>
                </a:lnTo>
                <a:cubicBezTo>
                  <a:pt x="108816" y="5884"/>
                  <a:pt x="115120" y="0"/>
                  <a:pt x="122930" y="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5" name="Text 5"/>
          <p:cNvSpPr/>
          <p:nvPr/>
        </p:nvSpPr>
        <p:spPr>
          <a:xfrm rot="21360000">
            <a:off x="8877935" y="5248275"/>
            <a:ext cx="390525" cy="337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 rot="21360000">
            <a:off x="6412230" y="5198745"/>
            <a:ext cx="1828800" cy="3409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17" name="Text 7"/>
          <p:cNvSpPr/>
          <p:nvPr/>
        </p:nvSpPr>
        <p:spPr>
          <a:xfrm rot="21360000">
            <a:off x="9320530" y="5200015"/>
            <a:ext cx="1899920" cy="3289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</a:t>
            </a:r>
            <a:r>
              <a:rPr lang="en-US" sz="1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2025/08/01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64.27133858267717,&quot;left&quot;:79.07771653543307,&quot;top&quot;:137.34086614173228,&quot;width&quot;:826.1722834645668}"/>
</p:tagLst>
</file>

<file path=ppt/tags/tag2.xml><?xml version="1.0" encoding="utf-8"?>
<p:tagLst xmlns:p="http://schemas.openxmlformats.org/presentationml/2006/main">
  <p:tag name="KSO_WM_DIAGRAM_VIRTUALLY_FRAME" val="{&quot;height&quot;:164.27133858267717,&quot;left&quot;:79.07771653543307,&quot;top&quot;:137.34086614173228,&quot;width&quot;:826.1722834645668}"/>
</p:tagLst>
</file>

<file path=ppt/tags/tag3.xml><?xml version="1.0" encoding="utf-8"?>
<p:tagLst xmlns:p="http://schemas.openxmlformats.org/presentationml/2006/main">
  <p:tag name="KSO_WM_DIAGRAM_VIRTUALLY_FRAME" val="{&quot;height&quot;:164.27133858267717,&quot;left&quot;:79.07771653543307,&quot;top&quot;:137.34086614173228,&quot;width&quot;:826.1722834645668}"/>
</p:tagLst>
</file>

<file path=ppt/tags/tag4.xml><?xml version="1.0" encoding="utf-8"?>
<p:tagLst xmlns:p="http://schemas.openxmlformats.org/presentationml/2006/main">
  <p:tag name="KSO_WM_DIAGRAM_VIRTUALLY_FRAME" val="{&quot;height&quot;:164.27133858267717,&quot;left&quot;:79.07771653543307,&quot;top&quot;:137.34086614173228,&quot;width&quot;:826.1722834645668}"/>
</p:tagLst>
</file>

<file path=ppt/tags/tag5.xml><?xml version="1.0" encoding="utf-8"?>
<p:tagLst xmlns:p="http://schemas.openxmlformats.org/presentationml/2006/main">
  <p:tag name="KSO_WM_DIAGRAM_VIRTUALLY_FRAME" val="{&quot;height&quot;:164.27133858267717,&quot;left&quot;:79.07771653543307,&quot;top&quot;:137.34086614173228,&quot;width&quot;:826.1722834645668}"/>
</p:tagLst>
</file>

<file path=ppt/tags/tag6.xml><?xml version="1.0" encoding="utf-8"?>
<p:tagLst xmlns:p="http://schemas.openxmlformats.org/presentationml/2006/main">
  <p:tag name="KSO_WM_DIAGRAM_VIRTUALLY_FRAME" val="{&quot;height&quot;:164.27133858267717,&quot;left&quot;:79.07771653543307,&quot;top&quot;:137.34086614173228,&quot;width&quot;:826.1722834645668}"/>
</p:tagLst>
</file>

<file path=ppt/tags/tag7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8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9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0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1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2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3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4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5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6.xml><?xml version="1.0" encoding="utf-8"?>
<p:tagLst xmlns:p="http://schemas.openxmlformats.org/presentationml/2006/main">
  <p:tag name="KSO_WM_DIAGRAM_VIRTUALLY_FRAME" val="{&quot;height&quot;:346.63370078740155,&quot;left&quot;:476.9572440944882,&quot;top&quot;:157.19149606299214,&quot;width&quot;:427.23700787401566}"/>
</p:tagLst>
</file>

<file path=ppt/tags/tag17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18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19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0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1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2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3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4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5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6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7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ags/tag28.xml><?xml version="1.0" encoding="utf-8"?>
<p:tagLst xmlns:p="http://schemas.openxmlformats.org/presentationml/2006/main">
  <p:tag name="KSO_WM_DIAGRAM_VIRTUALLY_FRAME" val="{&quot;height&quot;:381.1530708661417,&quot;left&quot;:63.567322834645665,&quot;top&quot;:127.52291338582677,&quot;width&quot;:840.81787401574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AF26E"/>
      </a:accent1>
      <a:accent2>
        <a:srgbClr val="F9DB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AF26E"/>
      </a:accent1>
      <a:accent2>
        <a:srgbClr val="F9DB6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3497</Words>
  <Application>WPS 演示</Application>
  <PresentationFormat>On-screen Show (16:9)</PresentationFormat>
  <Paragraphs>284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Arial</vt:lpstr>
      <vt:lpstr>宋体</vt:lpstr>
      <vt:lpstr>Wingdings</vt:lpstr>
      <vt:lpstr>仓耳玄三M W05</vt:lpstr>
      <vt:lpstr>Segoe Print</vt:lpstr>
      <vt:lpstr>仓耳玄三M W05</vt:lpstr>
      <vt:lpstr>仓耳玄三M W05</vt:lpstr>
      <vt:lpstr>MiSans</vt:lpstr>
      <vt:lpstr>MiSans</vt:lpstr>
      <vt:lpstr>Calibri</vt:lpstr>
      <vt:lpstr>微软雅黑</vt:lpstr>
      <vt:lpstr>Arial Unicode MS</vt:lpstr>
      <vt:lpstr>等线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智能桌宠系统设计与实现</dc:title>
  <dc:creator>Kimi</dc:creator>
  <dc:subject>智能桌宠系统设计与实现</dc:subject>
  <cp:lastModifiedBy>微信用户</cp:lastModifiedBy>
  <cp:revision>4</cp:revision>
  <dcterms:created xsi:type="dcterms:W3CDTF">2025-10-13T13:56:00Z</dcterms:created>
  <dcterms:modified xsi:type="dcterms:W3CDTF">2025-10-13T15:31:38Z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{"Label":"智能桌宠系统设计与实现","ContentProducer":"001191110108MACG2KBH8F10000","ProduceID":"d3mg3s0h9471h9be2b3g","ReservedCode1":"","ContentPropagator":"001191110108MACG2KBH8F20000","PropagateID":"d3mg3s0h9471h9be2b3g","ReservedCode2":""}</vt:lpwstr>
  </property>
  <property fmtid="{D5CDD505-2E9C-101B-9397-08002B2CF9AE}" pid="3" name="ICV">
    <vt:lpwstr>CA9569D480CC481C8EC4B460ABB5D868_13</vt:lpwstr>
  </property>
  <property fmtid="{D5CDD505-2E9C-101B-9397-08002B2CF9AE}" pid="4" name="KSOProductBuildVer">
    <vt:lpwstr>2052-12.1.0.22529</vt:lpwstr>
  </property>
</Properties>
</file>